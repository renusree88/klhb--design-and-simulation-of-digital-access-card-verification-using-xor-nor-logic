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640080"/>
            <a:ext cx="1005840" cy="1005840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1417320"/>
            <a:ext cx="502920" cy="502920"/>
          </a:xfrm>
          <a:prstGeom prst="ellipse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1874519"/>
            <a:ext cx="320040" cy="32004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2743200"/>
            <a:ext cx="914400" cy="914400"/>
          </a:xfrm>
          <a:prstGeom prst="ellipse">
            <a:avLst/>
          </a:prstGeom>
          <a:solidFill>
            <a:srgbClr val="1B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8138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4200" b="1">
                <a:solidFill>
                  <a:srgbClr val="F8FAFF"/>
                </a:solidFill>
                <a:latin typeface="Aptos"/>
              </a:defRPr>
            </a:pPr>
            <a:r>
              <a:t>NOR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8138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32CAD2"/>
                </a:solidFill>
                <a:latin typeface="Aptos"/>
              </a:defRPr>
            </a:pPr>
            <a:r>
              <a:t>Design and Simulation of a Fundamental Digital Logic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2461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A7BAD7"/>
                </a:solidFill>
                <a:latin typeface="Aptos"/>
              </a:defRPr>
            </a:pPr>
            <a:r>
              <a:t>Digital Logic • Boolean Algebra • Circuit Simulation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3977639"/>
            <a:ext cx="1280160" cy="64008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251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F8FA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68172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A7BAD7"/>
                </a:solidFill>
                <a:latin typeface="Aptos"/>
              </a:defRPr>
            </a:pPr>
            <a:r>
              <a:t>10-slide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7BAD7"/>
                </a:solidFill>
                <a:latin typeface="Aptos"/>
              </a:defRPr>
            </a:pPr>
            <a:r>
              <a:t>01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96512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2CAD2"/>
                </a:solidFill>
                <a:latin typeface="Aptos"/>
              </a:defRPr>
            </a:pPr>
            <a:r>
              <a:t>PROJECT TEAM</a:t>
            </a:r>
          </a:p>
          <a:p>
            <a:pPr>
              <a:spcAft>
                <a:spcPts val="4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2620040061 – Pranathi Kusi</a:t>
            </a:r>
          </a:p>
          <a:p>
            <a:pPr>
              <a:spcAft>
                <a:spcPts val="4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2620030115 – K. Rishika</a:t>
            </a:r>
          </a:p>
          <a:p>
            <a:pPr>
              <a:spcAft>
                <a:spcPts val="4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2620030083 – Y. Naga Amrutha</a:t>
            </a:r>
          </a:p>
          <a:p>
            <a:pPr>
              <a:spcAft>
                <a:spcPts val="400"/>
              </a:spcAft>
              <a:defRPr sz="1200">
                <a:solidFill>
                  <a:srgbClr val="F8FAFF"/>
                </a:solidFill>
                <a:latin typeface="Aptos"/>
              </a:defRPr>
            </a:pPr>
            <a:r>
              <a:t>2620030098 – P. Renu Sree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1. What Is Digital Logic?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A7BAD7"/>
                </a:solidFill>
                <a:latin typeface="Aptos"/>
              </a:defRPr>
            </a:pPr>
            <a:r>
              <a:t>The foundation of how computers make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7BAD7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A computer accepts input, processes information, stores data, and produces output.</a:t>
            </a:r>
          </a:p>
          <a:p>
            <a:pPr>
              <a:spcAft>
                <a:spcPts val="13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Digital circuits represent information using two stable states: 0 and 1.</a:t>
            </a:r>
          </a:p>
          <a:p>
            <a:pPr>
              <a:spcAft>
                <a:spcPts val="13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Logic gates process binary inputs and produce binary outputs.</a:t>
            </a:r>
          </a:p>
          <a:p>
            <a:pPr>
              <a:spcAft>
                <a:spcPts val="13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Small gates combine into larger systems such as adders, memory, and CPUs.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057400"/>
            <a:ext cx="3474720" cy="114300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3568" y="2221992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670048"/>
            <a:ext cx="3072384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Switches, buttons, or sensor 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474720"/>
            <a:ext cx="3474720" cy="114300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3639312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2A6FDB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4087368"/>
            <a:ext cx="3072384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Logic gates apply Boolean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892040"/>
            <a:ext cx="3474720" cy="100584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5056631"/>
            <a:ext cx="3072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FB54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5504688"/>
            <a:ext cx="30723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LED, display, or control signal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2. Understanding the NOR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A7BAD7"/>
                </a:solidFill>
                <a:latin typeface="Aptos"/>
              </a:defRPr>
            </a:pPr>
            <a:r>
              <a:t>NOR means NOT-OR: the output is 1 only when every input is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7BAD7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First, OR gives 1 when at least one input is 1.</a:t>
            </a:r>
          </a:p>
          <a:p>
            <a:pPr>
              <a:spcAft>
                <a:spcPts val="13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NOR reverses the OR output using NOT.</a:t>
            </a:r>
          </a:p>
          <a:p>
            <a:pPr>
              <a:spcAft>
                <a:spcPts val="13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Boolean expression: Y = ¬(A + B)</a:t>
            </a:r>
          </a:p>
          <a:p>
            <a:pPr>
              <a:spcAft>
                <a:spcPts val="1300"/>
              </a:spcAft>
              <a:defRPr sz="1800">
                <a:solidFill>
                  <a:srgbClr val="F8FAFF"/>
                </a:solidFill>
                <a:latin typeface="Aptos"/>
              </a:defRPr>
            </a:pPr>
            <a:r>
              <a:t>NOR is a universal gate: any Boolean circuit can be built using only NOR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514600"/>
            <a:ext cx="1645920" cy="914400"/>
          </a:xfrm>
          <a:prstGeom prst="roundRect">
            <a:avLst/>
          </a:prstGeom>
          <a:solidFill>
            <a:srgbClr val="2A6FDB"/>
          </a:solidFill>
          <a:ln>
            <a:solidFill>
              <a:srgbClr val="32C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8FAFF"/>
                </a:solidFill>
                <a:latin typeface="Aptos"/>
              </a:defRPr>
            </a:pPr>
            <a:r>
              <a:t>NOR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3317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32CAD2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3375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32CAD2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93192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B547"/>
                </a:solidFill>
                <a:latin typeface="Aptos"/>
              </a:defRPr>
            </a:pPr>
            <a:r>
              <a:t>Y = ¬(A + 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6177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8FAFF"/>
                </a:solidFill>
                <a:latin typeface="Aptos"/>
              </a:defRPr>
            </a:pPr>
            <a:r>
              <a:t>Y is HIGH only for A = 0 and B =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3. NOR Gate Truth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A7BAD7"/>
                </a:solidFill>
                <a:latin typeface="Aptos"/>
              </a:defRPr>
            </a:pPr>
            <a:r>
              <a:t>Check all possible combinations of two binary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7BAD7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965960"/>
            <a:ext cx="1847088" cy="530352"/>
          </a:xfrm>
          <a:prstGeom prst="round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2057400"/>
            <a:ext cx="18470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Aptos"/>
              </a:defRPr>
            </a:pPr>
            <a:r>
              <a:t>Input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965960"/>
            <a:ext cx="1847088" cy="530352"/>
          </a:xfrm>
          <a:prstGeom prst="round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057400"/>
            <a:ext cx="18470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Aptos"/>
              </a:defRPr>
            </a:pPr>
            <a:r>
              <a:t>Input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965960"/>
            <a:ext cx="2212848" cy="530352"/>
          </a:xfrm>
          <a:prstGeom prst="round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057400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Aptos"/>
              </a:defRPr>
            </a:pPr>
            <a:r>
              <a:t>Output 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2624328"/>
            <a:ext cx="1847088" cy="502920"/>
          </a:xfrm>
          <a:prstGeom prst="roundRect">
            <a:avLst/>
          </a:prstGeom>
          <a:solidFill>
            <a:srgbClr val="1E3150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688336"/>
            <a:ext cx="1847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8FA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624328"/>
            <a:ext cx="1847088" cy="502920"/>
          </a:xfrm>
          <a:prstGeom prst="roundRect">
            <a:avLst/>
          </a:prstGeom>
          <a:solidFill>
            <a:srgbClr val="1E3150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688336"/>
            <a:ext cx="1847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8FA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2624328"/>
            <a:ext cx="2212848" cy="502920"/>
          </a:xfrm>
          <a:prstGeom prst="roundRect">
            <a:avLst/>
          </a:prstGeom>
          <a:solidFill>
            <a:srgbClr val="1E3150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688336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2CAD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3282696"/>
            <a:ext cx="1847088" cy="502920"/>
          </a:xfrm>
          <a:prstGeom prst="roundRect">
            <a:avLst/>
          </a:prstGeom>
          <a:solidFill>
            <a:srgbClr val="172844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3346703"/>
            <a:ext cx="1847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8FA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3282696"/>
            <a:ext cx="1847088" cy="502920"/>
          </a:xfrm>
          <a:prstGeom prst="roundRect">
            <a:avLst/>
          </a:prstGeom>
          <a:solidFill>
            <a:srgbClr val="172844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3346703"/>
            <a:ext cx="1847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8FA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282696"/>
            <a:ext cx="2212848" cy="502920"/>
          </a:xfrm>
          <a:prstGeom prst="roundRect">
            <a:avLst/>
          </a:prstGeom>
          <a:solidFill>
            <a:srgbClr val="172844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3346703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8FA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3941064"/>
            <a:ext cx="1847088" cy="502920"/>
          </a:xfrm>
          <a:prstGeom prst="roundRect">
            <a:avLst/>
          </a:prstGeom>
          <a:solidFill>
            <a:srgbClr val="1E3150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20240" y="4005072"/>
            <a:ext cx="1847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8FA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3941064"/>
            <a:ext cx="1847088" cy="502920"/>
          </a:xfrm>
          <a:prstGeom prst="roundRect">
            <a:avLst/>
          </a:prstGeom>
          <a:solidFill>
            <a:srgbClr val="1E3150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4005072"/>
            <a:ext cx="1847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8FA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3941064"/>
            <a:ext cx="2212848" cy="502920"/>
          </a:xfrm>
          <a:prstGeom prst="roundRect">
            <a:avLst/>
          </a:prstGeom>
          <a:solidFill>
            <a:srgbClr val="1E3150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4005072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8FA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0240" y="4599432"/>
            <a:ext cx="1847088" cy="502920"/>
          </a:xfrm>
          <a:prstGeom prst="roundRect">
            <a:avLst/>
          </a:prstGeom>
          <a:solidFill>
            <a:srgbClr val="172844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4663440"/>
            <a:ext cx="1847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8FA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4599432"/>
            <a:ext cx="1847088" cy="502920"/>
          </a:xfrm>
          <a:prstGeom prst="roundRect">
            <a:avLst/>
          </a:prstGeom>
          <a:solidFill>
            <a:srgbClr val="172844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4663440"/>
            <a:ext cx="18470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8FA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599432"/>
            <a:ext cx="2212848" cy="502920"/>
          </a:xfrm>
          <a:prstGeom prst="roundRect">
            <a:avLst/>
          </a:prstGeom>
          <a:solidFill>
            <a:srgbClr val="172844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0" y="4663440"/>
            <a:ext cx="22128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8FAF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23317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1">
                <a:solidFill>
                  <a:srgbClr val="FFB547"/>
                </a:solidFill>
                <a:latin typeface="Aptos"/>
              </a:defRPr>
            </a:pPr>
            <a:r>
              <a:t>Key observation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2834640"/>
            <a:ext cx="3108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F8FAFF"/>
                </a:solidFill>
                <a:latin typeface="Aptos"/>
              </a:defRPr>
            </a:pPr>
            <a:r>
              <a:t>Only the 00 input combination produces an output of 1. Every other combination produces 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475488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A7BAD7"/>
                </a:solidFill>
                <a:latin typeface="Aptos"/>
              </a:defRPr>
            </a:pPr>
            <a:r>
              <a:t>This table is the specification used to test the simulated circuit.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4. Boolean Expression &amp; Logic Symbols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A7BAD7"/>
                </a:solidFill>
                <a:latin typeface="Aptos"/>
              </a:defRPr>
            </a:pPr>
            <a:r>
              <a:t>Translate the required behaviour into a simple expression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7BAD7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3291840" cy="141732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84832"/>
            <a:ext cx="28895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2A6FDB"/>
                </a:solidFill>
                <a:latin typeface="Aptos"/>
              </a:defRPr>
            </a:pPr>
            <a:r>
              <a:t>OR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889504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A + B = 1 if A or B (or both) is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291840" cy="141732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084832"/>
            <a:ext cx="28895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NOT 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532888"/>
            <a:ext cx="2889504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¬X flips a bit: 0 becomes 1; 1 becomes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920240"/>
            <a:ext cx="3291840" cy="141732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084832"/>
            <a:ext cx="28895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FB547"/>
                </a:solidFill>
                <a:latin typeface="Aptos"/>
              </a:defRPr>
            </a:pPr>
            <a:r>
              <a:t>NOR 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532888"/>
            <a:ext cx="2889504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Y = ¬(A +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69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32CAD2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0">
                <a:solidFill>
                  <a:srgbClr val="F8FAFF"/>
                </a:solidFill>
                <a:latin typeface="Aptos"/>
              </a:defRPr>
            </a:pPr>
            <a:r>
              <a:t>If A = 0 and B = 1: A + B = 1, so Y = ¬1 = 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035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A7BAD7"/>
                </a:solidFill>
                <a:latin typeface="Aptos"/>
              </a:defRPr>
            </a:pPr>
            <a:r>
              <a:t>The plus sign means OR in Boolean algebra—not ordinary arithmetic addition.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5. Why Is NOR Called a Universal Gate?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A7BAD7"/>
                </a:solidFill>
                <a:latin typeface="Aptos"/>
              </a:defRPr>
            </a:pPr>
            <a:r>
              <a:t>Build other basic gates from NOR gates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7BAD7"/>
                </a:solidFill>
                <a:latin typeface="Aptos"/>
              </a:defRPr>
            </a:pPr>
            <a: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1">
                <a:solidFill>
                  <a:srgbClr val="F8FAFF"/>
                </a:solidFill>
                <a:latin typeface="Aptos"/>
              </a:defRPr>
            </a:pPr>
            <a:r>
              <a:t>A NOR A = ¬A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9659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423160"/>
            <a:ext cx="3657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(A NOR B) NOR (A NOR B) = A +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4389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8FAFF"/>
                </a:solidFill>
                <a:latin typeface="Aptos"/>
              </a:defRPr>
            </a:pPr>
            <a:r>
              <a:t>(A NOR A) NOR (B NOR B) = A ·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40480"/>
            <a:ext cx="4480560" cy="150876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4005072"/>
            <a:ext cx="407822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FB547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4453128"/>
            <a:ext cx="407822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A single gate type can implement many logic functions, simplifying circuit design and helping explain how complex hardware is built from simple building blocks.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6. Simulating a NOR Circuit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A7BAD7"/>
                </a:solidFill>
                <a:latin typeface="Aptos"/>
              </a:defRPr>
            </a:pPr>
            <a:r>
              <a:t>A simple workflow in Logisim Evolution or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7BAD7"/>
                </a:solidFill>
                <a:latin typeface="Aptos"/>
              </a:defRPr>
            </a:pPr>
            <a:r>
              <a:t>07 / 10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1051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Place a NOR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810512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F8FAFF"/>
                </a:solidFill>
                <a:latin typeface="Aptos"/>
              </a:defRPr>
            </a:pPr>
            <a:r>
              <a:t>Choose a 2-input NOR gate from the gate library.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16352"/>
            <a:ext cx="502920" cy="502920"/>
          </a:xfrm>
          <a:prstGeom prst="ellipse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8950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98064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Add 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798064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F8FAFF"/>
                </a:solidFill>
                <a:latin typeface="Aptos"/>
              </a:defRPr>
            </a:pPr>
            <a:r>
              <a:t>Connect two switches or input pins to A and B.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803904"/>
            <a:ext cx="502920" cy="502920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7705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8561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Connect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785616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F8FAFF"/>
                </a:solidFill>
                <a:latin typeface="Aptos"/>
              </a:defRPr>
            </a:pPr>
            <a:r>
              <a:t>Attach an LED or output pin to Y.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791456"/>
            <a:ext cx="502920" cy="502920"/>
          </a:xfrm>
          <a:prstGeom prst="ellipse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86460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7316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Test combinations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773168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F8FAFF"/>
                </a:solidFill>
                <a:latin typeface="Aptos"/>
              </a:defRPr>
            </a:pPr>
            <a:r>
              <a:t>Try 00, 01, 10, and 11 and compare with the truth 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897880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FFB547"/>
                </a:solidFill>
                <a:latin typeface="Aptos"/>
              </a:defRPr>
            </a:pPr>
            <a:r>
              <a:t>Good practice: save the circuit file and record the test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7. Where NOR Fits in a Computer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A7BAD7"/>
                </a:solidFill>
                <a:latin typeface="Aptos"/>
              </a:defRPr>
            </a:pPr>
            <a:r>
              <a:t>Logic gates combine to create larger digital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7BAD7"/>
                </a:solidFill>
                <a:latin typeface="Aptos"/>
              </a:defRPr>
            </a:pPr>
            <a: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560320" cy="128016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0552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GATE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78608"/>
            <a:ext cx="21579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NOR, AND, OR, XOR, NOT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965960"/>
            <a:ext cx="2560320" cy="128016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2130552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2A6FDB"/>
                </a:solidFill>
                <a:latin typeface="Aptos"/>
              </a:defRPr>
            </a:pPr>
            <a:r>
              <a:t>CIRCUITS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578608"/>
            <a:ext cx="21579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Adders, multiplexers, decoders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2560320" cy="128016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130552"/>
            <a:ext cx="21579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CPU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578608"/>
            <a:ext cx="21579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ALU, control, registers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965960"/>
            <a:ext cx="2331720" cy="128016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2130552"/>
            <a:ext cx="192938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FB547"/>
                </a:solidFill>
                <a:latin typeface="Aptos"/>
              </a:defRPr>
            </a:pPr>
            <a:r>
              <a:t>COMPUTER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578608"/>
            <a:ext cx="192938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Runs instructions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10128" y="2395728"/>
            <a:ext cx="201168" cy="292608"/>
          </a:xfrm>
          <a:prstGeom prst="rightArrow">
            <a:avLst/>
          </a:prstGeom>
          <a:solidFill>
            <a:srgbClr val="A7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6099048" y="2395728"/>
            <a:ext cx="201168" cy="292608"/>
          </a:xfrm>
          <a:prstGeom prst="rightArrow">
            <a:avLst/>
          </a:prstGeom>
          <a:solidFill>
            <a:srgbClr val="A7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887968" y="2395728"/>
            <a:ext cx="201168" cy="292608"/>
          </a:xfrm>
          <a:prstGeom prst="rightArrow">
            <a:avLst/>
          </a:prstGeom>
          <a:solidFill>
            <a:srgbClr val="A7B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69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8FAFF"/>
                </a:solidFill>
                <a:latin typeface="Aptos"/>
              </a:defRPr>
            </a:pPr>
            <a:r>
              <a:t>A NOR gate does not make a full CPU by itself—but it demonstrates how complex behaviour can emerge from simple, predictable rules.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A7BAD7"/>
                </a:solidFill>
                <a:latin typeface="Aptos"/>
              </a:defRPr>
            </a:pPr>
            <a:r>
              <a:t>The same design mindset is used when building an ALU and studying a RISC-V processor.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900" b="1">
                <a:solidFill>
                  <a:srgbClr val="F8FAFF"/>
                </a:solidFill>
                <a:latin typeface="Aptos"/>
              </a:defRPr>
            </a:pPr>
            <a:r>
              <a:t>8. Testing, Results &amp;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51560" cy="54864"/>
          </a:xfrm>
          <a:prstGeom prst="rect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A7BAD7"/>
                </a:solidFill>
                <a:latin typeface="Aptos"/>
              </a:defRPr>
            </a:pPr>
            <a:r>
              <a:t>Verify the circuit against the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7BAD7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6858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Expected result: output is 1 only when both inputs are 0.</a:t>
            </a:r>
          </a:p>
          <a:p>
            <a:pPr>
              <a:spcAft>
                <a:spcPts val="13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Test cases: 00 → 1, 01 → 0, 10 → 0, 11 → 0.</a:t>
            </a:r>
          </a:p>
          <a:p>
            <a:pPr>
              <a:spcAft>
                <a:spcPts val="13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If every simulated output matches the truth table, the NOR circuit is functioning correctly.</a:t>
            </a:r>
          </a:p>
          <a:p>
            <a:pPr>
              <a:spcAft>
                <a:spcPts val="1300"/>
              </a:spcAft>
              <a:defRPr sz="1700">
                <a:solidFill>
                  <a:srgbClr val="F8FAFF"/>
                </a:solidFill>
                <a:latin typeface="Aptos"/>
              </a:defRPr>
            </a:pPr>
            <a:r>
              <a:t>Applications: control logic, simple decision circuits, digital design learning, and universal-gate implementations.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103120"/>
            <a:ext cx="3154680" cy="114300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02168" y="2267712"/>
            <a:ext cx="27523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FFB547"/>
                </a:solidFill>
                <a:latin typeface="Aptos"/>
              </a:defRPr>
            </a:pPr>
            <a:r>
              <a:t>EXPECTED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2168" y="2715768"/>
            <a:ext cx="2752344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Y = ¬(A + 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566160"/>
            <a:ext cx="3154680" cy="114300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3730752"/>
            <a:ext cx="27523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2CAD2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4178808"/>
            <a:ext cx="2752344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Compare simulation with all 4 truth-table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5029200"/>
            <a:ext cx="3154680" cy="914400"/>
          </a:xfrm>
          <a:prstGeom prst="roundRect">
            <a:avLst/>
          </a:prstGeom>
          <a:solidFill>
            <a:srgbClr val="19263F"/>
          </a:solidFill>
          <a:ln>
            <a:solidFill>
              <a:srgbClr val="35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5193792"/>
            <a:ext cx="27523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2A6FD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5641848"/>
            <a:ext cx="275234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F8FAFF"/>
                </a:solidFill>
                <a:latin typeface="Aptos"/>
              </a:defRPr>
            </a:pPr>
            <a:r>
              <a:t>Simple rule. Reliable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914400"/>
            <a:ext cx="1097280" cy="1097280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95560" y="1828800"/>
            <a:ext cx="502920" cy="502920"/>
          </a:xfrm>
          <a:prstGeom prst="ellipse">
            <a:avLst/>
          </a:prstGeom>
          <a:solidFill>
            <a:srgbClr val="32C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2468880"/>
            <a:ext cx="320040" cy="320040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38360" y="3886200"/>
            <a:ext cx="914400" cy="914400"/>
          </a:xfrm>
          <a:prstGeom prst="ellipse">
            <a:avLst/>
          </a:prstGeom>
          <a:solidFill>
            <a:srgbClr val="1B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4400" b="1">
                <a:solidFill>
                  <a:srgbClr val="F8FA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32CAD2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88620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A7BAD7"/>
                </a:solidFill>
                <a:latin typeface="Aptos"/>
              </a:defRPr>
            </a:pPr>
            <a:r>
              <a:t>NOR Logic • Digital Systems • Circuit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7BAD7"/>
                </a:solidFill>
                <a:latin typeface="Apto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