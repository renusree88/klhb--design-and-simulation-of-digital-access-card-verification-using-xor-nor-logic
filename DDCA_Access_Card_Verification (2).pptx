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59278FE-234E-653B-8B91-82F5429DD4F9}">
          <p14:sldIdLst>
            <p14:sldId id="256"/>
            <p14:sldId id="257"/>
            <p14:sldId id="258"/>
            <p14:sldId id="259"/>
          </p14:sldIdLst>
        </p14:section>
        <p14:section name="Design" id="{2D98BF0D-0698-A064-064A-3D10EF7A423E}">
          <p14:sldIdLst>
            <p14:sldId id="260"/>
            <p14:sldId id="261"/>
            <p14:sldId id="262"/>
            <p14:sldId id="263"/>
            <p14:sldId id="264"/>
          </p14:sldIdLst>
        </p14:section>
        <p14:section name="Verification" id="{798A6F38-79CA-8B12-A82C-587F5DB6D140}">
          <p14:sldIdLst>
            <p14:sldId id="265"/>
            <p14:sldId id="266"/>
            <p14:sldId id="267"/>
          </p14:sldIdLst>
        </p14:section>
        <p14:section name="Conclusion" id="{F9FA3C62-9960-7E7D-28EC-664E3291249A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94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LOGO box with the university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your Logisim Evolution screenshot over the dashed box on the right, then delete the box and its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repository link with your team's actual GitHub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E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</a:rPr>
              <a:t>DDCA Project  |  Digital Access Card Verification Using XOR/NOR Logic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github.com/renusree88/KLHB--Design-and-Simulation-of-Digital-Access-Card-Verification-Using-XOR-NOR-Logic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DCA project label"/>
          <p:cNvSpPr/>
          <p:nvPr/>
        </p:nvSpPr>
        <p:spPr>
          <a:xfrm>
            <a:off x="548640" y="502920"/>
            <a:ext cx="192024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-1"/>
          <p:cNvSpPr txBox="1"/>
          <p:nvPr/>
        </p:nvSpPr>
        <p:spPr>
          <a:xfrm>
            <a:off x="548640" y="502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DDCA PROJECT</a:t>
            </a:r>
            <a:endParaRPr lang="en-US" sz="1200" dirty="0"/>
          </a:p>
        </p:txBody>
      </p:sp>
      <p:sp>
        <p:nvSpPr>
          <p:cNvPr id="4" name="Project title"/>
          <p:cNvSpPr txBox="1"/>
          <p:nvPr/>
        </p:nvSpPr>
        <p:spPr>
          <a:xfrm>
            <a:off x="548640" y="10058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Simulation of Digital Access Card Verification Using </a:t>
            </a:r>
            <a:r>
              <a:rPr lang="en-US" sz="32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XOR/NOR Logic</a:t>
            </a:r>
            <a:endParaRPr lang="en-US" sz="3200" dirty="0"/>
          </a:p>
        </p:txBody>
      </p:sp>
      <p:sp>
        <p:nvSpPr>
          <p:cNvPr id="5" name="text-2"/>
          <p:cNvSpPr txBox="1"/>
          <p:nvPr/>
        </p:nvSpPr>
        <p:spPr>
          <a:xfrm>
            <a:off x="548640" y="272491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DDCA – Digital Design and Computer Architecture</a:t>
            </a:r>
            <a:endParaRPr lang="en-US" sz="1600" dirty="0"/>
          </a:p>
        </p:txBody>
      </p:sp>
      <p:sp>
        <p:nvSpPr>
          <p:cNvPr id="6" name="Guide name"/>
          <p:cNvSpPr txBox="1"/>
          <p:nvPr/>
        </p:nvSpPr>
        <p:spPr>
          <a:xfrm>
            <a:off x="548640" y="305409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Venkanna Isampalli</a:t>
            </a:r>
            <a:endParaRPr lang="en-US" sz="1600" dirty="0"/>
          </a:p>
        </p:txBody>
      </p:sp>
      <p:sp>
        <p:nvSpPr>
          <p:cNvPr id="7" name="Team card"/>
          <p:cNvSpPr/>
          <p:nvPr/>
        </p:nvSpPr>
        <p:spPr>
          <a:xfrm>
            <a:off x="548640" y="3520440"/>
            <a:ext cx="6309360" cy="2057400"/>
          </a:xfrm>
          <a:prstGeom prst="roundRect">
            <a:avLst>
              <a:gd name="adj" fmla="val 5333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3"/>
          <p:cNvSpPr txBox="1"/>
          <p:nvPr/>
        </p:nvSpPr>
        <p:spPr>
          <a:xfrm>
            <a:off x="82296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9" name="text-4"/>
          <p:cNvSpPr txBox="1"/>
          <p:nvPr/>
        </p:nvSpPr>
        <p:spPr>
          <a:xfrm>
            <a:off x="822960" y="39867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2620040061</a:t>
            </a:r>
            <a:endParaRPr lang="en-US" sz="1500" dirty="0"/>
          </a:p>
        </p:txBody>
      </p:sp>
      <p:sp>
        <p:nvSpPr>
          <p:cNvPr id="10" name="text-5"/>
          <p:cNvSpPr txBox="1"/>
          <p:nvPr/>
        </p:nvSpPr>
        <p:spPr>
          <a:xfrm>
            <a:off x="2743200" y="39867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Pranathi Kusi</a:t>
            </a:r>
            <a:endParaRPr lang="en-US" sz="1600" dirty="0"/>
          </a:p>
        </p:txBody>
      </p:sp>
      <p:sp>
        <p:nvSpPr>
          <p:cNvPr id="11" name="text-6"/>
          <p:cNvSpPr txBox="1"/>
          <p:nvPr/>
        </p:nvSpPr>
        <p:spPr>
          <a:xfrm>
            <a:off x="822960" y="43616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2620030115</a:t>
            </a:r>
            <a:endParaRPr lang="en-US" sz="1500" dirty="0"/>
          </a:p>
        </p:txBody>
      </p:sp>
      <p:sp>
        <p:nvSpPr>
          <p:cNvPr id="12" name="text-7"/>
          <p:cNvSpPr txBox="1"/>
          <p:nvPr/>
        </p:nvSpPr>
        <p:spPr>
          <a:xfrm>
            <a:off x="2743200" y="4361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Rishika</a:t>
            </a:r>
            <a:endParaRPr lang="en-US" sz="1600" dirty="0"/>
          </a:p>
        </p:txBody>
      </p:sp>
      <p:sp>
        <p:nvSpPr>
          <p:cNvPr id="13" name="text-8"/>
          <p:cNvSpPr txBox="1"/>
          <p:nvPr/>
        </p:nvSpPr>
        <p:spPr>
          <a:xfrm>
            <a:off x="822960" y="47365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2620030083</a:t>
            </a:r>
            <a:endParaRPr lang="en-US" sz="1500" dirty="0"/>
          </a:p>
        </p:txBody>
      </p:sp>
      <p:sp>
        <p:nvSpPr>
          <p:cNvPr id="14" name="text-9"/>
          <p:cNvSpPr txBox="1"/>
          <p:nvPr/>
        </p:nvSpPr>
        <p:spPr>
          <a:xfrm>
            <a:off x="2743200" y="47365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Naga Amrutha</a:t>
            </a:r>
            <a:endParaRPr lang="en-US" sz="1600" dirty="0"/>
          </a:p>
        </p:txBody>
      </p:sp>
      <p:sp>
        <p:nvSpPr>
          <p:cNvPr id="15" name="text-10"/>
          <p:cNvSpPr txBox="1"/>
          <p:nvPr/>
        </p:nvSpPr>
        <p:spPr>
          <a:xfrm>
            <a:off x="822960" y="51114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2620030098</a:t>
            </a:r>
            <a:endParaRPr lang="en-US" sz="1500" dirty="0"/>
          </a:p>
        </p:txBody>
      </p:sp>
      <p:sp>
        <p:nvSpPr>
          <p:cNvPr id="16" name="text-11"/>
          <p:cNvSpPr txBox="1"/>
          <p:nvPr/>
        </p:nvSpPr>
        <p:spPr>
          <a:xfrm>
            <a:off x="2743200" y="51114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Renu Sree</a:t>
            </a:r>
            <a:endParaRPr lang="en-US" sz="1600" dirty="0"/>
          </a:p>
        </p:txBody>
      </p:sp>
      <p:sp>
        <p:nvSpPr>
          <p:cNvPr id="19" name="University name"/>
          <p:cNvSpPr txBox="1"/>
          <p:nvPr/>
        </p:nvSpPr>
        <p:spPr>
          <a:xfrm>
            <a:off x="1463040" y="57881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Koneru Lakshmaiah Education Foundation</a:t>
            </a:r>
            <a:endParaRPr lang="en-US" sz="1800" dirty="0"/>
          </a:p>
        </p:txBody>
      </p:sp>
      <p:sp>
        <p:nvSpPr>
          <p:cNvPr id="20" name="Department and year"/>
          <p:cNvSpPr txBox="1"/>
          <p:nvPr/>
        </p:nvSpPr>
        <p:spPr>
          <a:xfrm>
            <a:off x="1463040" y="6172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Freshman Engineering  |  Academic Year 2026–27</a:t>
            </a:r>
            <a:endParaRPr lang="en-US" sz="1300" dirty="0"/>
          </a:p>
        </p:txBody>
      </p:sp>
      <p:sp>
        <p:nvSpPr>
          <p:cNvPr id="21" name="Access card body"/>
          <p:cNvSpPr/>
          <p:nvPr/>
        </p:nvSpPr>
        <p:spPr>
          <a:xfrm>
            <a:off x="7818120" y="822960"/>
            <a:ext cx="3749040" cy="233172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12700">
            <a:solidFill>
              <a:schemeClr val="accent3"/>
            </a:solidFill>
            <a:prstDash val="solid"/>
          </a:ln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Access card sheen"/>
          <p:cNvSpPr/>
          <p:nvPr/>
        </p:nvSpPr>
        <p:spPr>
          <a:xfrm>
            <a:off x="9880092" y="822960"/>
            <a:ext cx="1687068" cy="2331720"/>
          </a:xfrm>
          <a:prstGeom prst="roundRect">
            <a:avLst>
              <a:gd name="adj" fmla="val 9756"/>
            </a:avLst>
          </a:prstGeom>
          <a:solidFill>
            <a:schemeClr val="accent1">
              <a:alpha val="65000"/>
            </a:schemeClr>
          </a:solidFill>
          <a:ln/>
        </p:spPr>
      </p:sp>
      <p:sp>
        <p:nvSpPr>
          <p:cNvPr id="23" name="text-13"/>
          <p:cNvSpPr txBox="1"/>
          <p:nvPr/>
        </p:nvSpPr>
        <p:spPr>
          <a:xfrm>
            <a:off x="8046720" y="100584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CARD</a:t>
            </a:r>
            <a:endParaRPr lang="en-US" sz="1300" dirty="0"/>
          </a:p>
        </p:txBody>
      </p:sp>
      <p:pic>
        <p:nvPicPr>
          <p:cNvPr id="24" name="Contactless symbol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969264"/>
            <a:ext cx="365760" cy="365760"/>
          </a:xfrm>
          <a:prstGeom prst="rect">
            <a:avLst/>
          </a:prstGeom>
        </p:spPr>
      </p:pic>
      <p:sp>
        <p:nvSpPr>
          <p:cNvPr id="25" name="Card chip"/>
          <p:cNvSpPr/>
          <p:nvPr/>
        </p:nvSpPr>
        <p:spPr>
          <a:xfrm>
            <a:off x="8074152" y="1662379"/>
            <a:ext cx="566928" cy="438912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9525">
            <a:solidFill>
              <a:srgbClr val="B07C00"/>
            </a:solidFill>
            <a:prstDash val="solid"/>
          </a:ln>
        </p:spPr>
      </p:sp>
      <p:sp>
        <p:nvSpPr>
          <p:cNvPr id="26" name="wire-14"/>
          <p:cNvSpPr/>
          <p:nvPr/>
        </p:nvSpPr>
        <p:spPr>
          <a:xfrm>
            <a:off x="8074152" y="1881835"/>
            <a:ext cx="566928" cy="0"/>
          </a:xfrm>
          <a:prstGeom prst="line">
            <a:avLst/>
          </a:prstGeom>
          <a:noFill/>
          <a:ln w="9525">
            <a:solidFill>
              <a:srgbClr val="B07C00"/>
            </a:solidFill>
            <a:prstDash val="solid"/>
          </a:ln>
        </p:spPr>
      </p:sp>
      <p:sp>
        <p:nvSpPr>
          <p:cNvPr id="27" name="wire-15"/>
          <p:cNvSpPr/>
          <p:nvPr/>
        </p:nvSpPr>
        <p:spPr>
          <a:xfrm>
            <a:off x="8357616" y="1662379"/>
            <a:ext cx="0" cy="438912"/>
          </a:xfrm>
          <a:prstGeom prst="line">
            <a:avLst/>
          </a:prstGeom>
          <a:noFill/>
          <a:ln w="9525">
            <a:solidFill>
              <a:srgbClr val="B07C00"/>
            </a:solidFill>
            <a:prstDash val="solid"/>
          </a:ln>
        </p:spPr>
      </p:sp>
      <p:pic>
        <p:nvPicPr>
          <p:cNvPr id="28" name="Card holder phot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1662379"/>
            <a:ext cx="658368" cy="658368"/>
          </a:xfrm>
          <a:prstGeom prst="rect">
            <a:avLst/>
          </a:prstGeom>
        </p:spPr>
      </p:pic>
      <p:sp>
        <p:nvSpPr>
          <p:cNvPr id="29" name="text-16"/>
          <p:cNvSpPr txBox="1"/>
          <p:nvPr/>
        </p:nvSpPr>
        <p:spPr>
          <a:xfrm>
            <a:off x="8074152" y="2441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ID</a:t>
            </a:r>
            <a:endParaRPr lang="en-US" sz="900" dirty="0"/>
          </a:p>
        </p:txBody>
      </p:sp>
      <p:sp>
        <p:nvSpPr>
          <p:cNvPr id="30" name="text-17"/>
          <p:cNvSpPr txBox="1"/>
          <p:nvPr/>
        </p:nvSpPr>
        <p:spPr>
          <a:xfrm>
            <a:off x="8074152" y="26426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1 0 1 0</a:t>
            </a:r>
            <a:endParaRPr lang="en-US" sz="2000" dirty="0"/>
          </a:p>
        </p:txBody>
      </p:sp>
      <p:sp>
        <p:nvSpPr>
          <p:cNvPr id="31" name="text-18"/>
          <p:cNvSpPr txBox="1"/>
          <p:nvPr/>
        </p:nvSpPr>
        <p:spPr>
          <a:xfrm>
            <a:off x="745236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300" dirty="0"/>
          </a:p>
        </p:txBody>
      </p:sp>
      <p:sp>
        <p:nvSpPr>
          <p:cNvPr id="32" name="text-19"/>
          <p:cNvSpPr txBox="1"/>
          <p:nvPr/>
        </p:nvSpPr>
        <p:spPr>
          <a:xfrm>
            <a:off x="74523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33" name="wire-20"/>
          <p:cNvSpPr/>
          <p:nvPr/>
        </p:nvSpPr>
        <p:spPr>
          <a:xfrm>
            <a:off x="7726680" y="4160520"/>
            <a:ext cx="4572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34" name="wire-21"/>
          <p:cNvSpPr/>
          <p:nvPr/>
        </p:nvSpPr>
        <p:spPr>
          <a:xfrm>
            <a:off x="7726680" y="4572000"/>
            <a:ext cx="4572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35" name="XOR input arc-22"/>
          <p:cNvSpPr/>
          <p:nvPr/>
        </p:nvSpPr>
        <p:spPr>
          <a:xfrm>
            <a:off x="7982712" y="3959352"/>
            <a:ext cx="914400" cy="822960"/>
          </a:xfrm>
          <a:custGeom>
            <a:avLst/>
            <a:gdLst/>
            <a:ahLst/>
            <a:cxnLst/>
            <a:rect l="l" t="t" r="r" b="b"/>
            <a:pathLst>
              <a:path w="914400" h="822960">
                <a:moveTo>
                  <a:pt x="0" y="0"/>
                </a:moveTo>
                <a:quadBezTo>
                  <a:pt x="274320" y="411480"/>
                  <a:pt x="0" y="822960"/>
                </a:quadBezTo>
              </a:path>
            </a:pathLst>
          </a:custGeom>
          <a:noFill/>
          <a:ln w="28575">
            <a:solidFill>
              <a:schemeClr val="bg1"/>
            </a:solidFill>
            <a:prstDash val="solid"/>
          </a:ln>
        </p:spPr>
      </p:sp>
      <p:sp>
        <p:nvSpPr>
          <p:cNvPr id="36" name="XOR gate-23"/>
          <p:cNvSpPr/>
          <p:nvPr/>
        </p:nvSpPr>
        <p:spPr>
          <a:xfrm>
            <a:off x="8092440" y="3959352"/>
            <a:ext cx="914400" cy="822960"/>
          </a:xfrm>
          <a:custGeom>
            <a:avLst/>
            <a:gdLst/>
            <a:ahLst/>
            <a:cxnLst/>
            <a:rect l="l" t="t" r="r" b="b"/>
            <a:pathLst>
              <a:path w="914400" h="822960">
                <a:moveTo>
                  <a:pt x="0" y="0"/>
                </a:moveTo>
                <a:cubicBezTo>
                  <a:pt x="502920" y="0"/>
                  <a:pt x="804672" y="148133"/>
                  <a:pt x="914400" y="411480"/>
                </a:cubicBezTo>
                <a:cubicBezTo>
                  <a:pt x="804672" y="674827"/>
                  <a:pt x="502920" y="822960"/>
                  <a:pt x="0" y="822960"/>
                </a:cubicBezTo>
                <a:quadBezTo>
                  <a:pt x="274320" y="411480"/>
                  <a:pt x="0" y="0"/>
                </a:quad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  <a:prstDash val="solid"/>
          </a:ln>
        </p:spPr>
      </p:sp>
      <p:sp>
        <p:nvSpPr>
          <p:cNvPr id="37" name="text-24"/>
          <p:cNvSpPr txBox="1"/>
          <p:nvPr/>
        </p:nvSpPr>
        <p:spPr>
          <a:xfrm>
            <a:off x="8202168" y="42336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100" dirty="0"/>
          </a:p>
        </p:txBody>
      </p:sp>
      <p:sp>
        <p:nvSpPr>
          <p:cNvPr id="38" name="wire-25"/>
          <p:cNvSpPr/>
          <p:nvPr/>
        </p:nvSpPr>
        <p:spPr>
          <a:xfrm>
            <a:off x="9006840" y="4370832"/>
            <a:ext cx="4572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39" name="NOR gate-26"/>
          <p:cNvSpPr/>
          <p:nvPr/>
        </p:nvSpPr>
        <p:spPr>
          <a:xfrm>
            <a:off x="9372600" y="3959352"/>
            <a:ext cx="914400" cy="822960"/>
          </a:xfrm>
          <a:custGeom>
            <a:avLst/>
            <a:gdLst/>
            <a:ahLst/>
            <a:cxnLst/>
            <a:rect l="l" t="t" r="r" b="b"/>
            <a:pathLst>
              <a:path w="914400" h="822960">
                <a:moveTo>
                  <a:pt x="0" y="0"/>
                </a:moveTo>
                <a:cubicBezTo>
                  <a:pt x="502920" y="0"/>
                  <a:pt x="804672" y="148133"/>
                  <a:pt x="914400" y="411480"/>
                </a:cubicBezTo>
                <a:cubicBezTo>
                  <a:pt x="804672" y="674827"/>
                  <a:pt x="502920" y="822960"/>
                  <a:pt x="0" y="822960"/>
                </a:cubicBezTo>
                <a:quadBezTo>
                  <a:pt x="274320" y="411480"/>
                  <a:pt x="0" y="0"/>
                </a:quad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  <a:prstDash val="solid"/>
          </a:ln>
        </p:spPr>
      </p:sp>
      <p:sp>
        <p:nvSpPr>
          <p:cNvPr id="40" name="inversion bubble-27"/>
          <p:cNvSpPr/>
          <p:nvPr/>
        </p:nvSpPr>
        <p:spPr>
          <a:xfrm>
            <a:off x="10287000" y="4297680"/>
            <a:ext cx="146304" cy="14630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  <a:prstDash val="solid"/>
          </a:ln>
        </p:spPr>
      </p:sp>
      <p:sp>
        <p:nvSpPr>
          <p:cNvPr id="41" name="text-28"/>
          <p:cNvSpPr txBox="1"/>
          <p:nvPr/>
        </p:nvSpPr>
        <p:spPr>
          <a:xfrm>
            <a:off x="9482328" y="42336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endParaRPr lang="en-US" sz="1100" dirty="0"/>
          </a:p>
        </p:txBody>
      </p:sp>
      <p:sp>
        <p:nvSpPr>
          <p:cNvPr id="42" name="wire-29"/>
          <p:cNvSpPr/>
          <p:nvPr/>
        </p:nvSpPr>
        <p:spPr>
          <a:xfrm>
            <a:off x="10433304" y="4370832"/>
            <a:ext cx="40233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3" name="icon circle-30"/>
          <p:cNvSpPr/>
          <p:nvPr/>
        </p:nvSpPr>
        <p:spPr>
          <a:xfrm>
            <a:off x="10835640" y="4005072"/>
            <a:ext cx="731520" cy="7315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44" name="icon-3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1205" y="4180637"/>
            <a:ext cx="380390" cy="380390"/>
          </a:xfrm>
          <a:prstGeom prst="rect">
            <a:avLst/>
          </a:prstGeom>
        </p:spPr>
      </p:pic>
      <p:sp>
        <p:nvSpPr>
          <p:cNvPr id="45" name="Granted pill"/>
          <p:cNvSpPr/>
          <p:nvPr/>
        </p:nvSpPr>
        <p:spPr>
          <a:xfrm>
            <a:off x="8778240" y="5120640"/>
            <a:ext cx="278892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6" name="text-32"/>
          <p:cNvSpPr txBox="1"/>
          <p:nvPr/>
        </p:nvSpPr>
        <p:spPr>
          <a:xfrm>
            <a:off x="8778240" y="5120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GRANTED</a:t>
            </a:r>
            <a:endParaRPr lang="en-US" sz="1400" dirty="0"/>
          </a:p>
        </p:txBody>
      </p:sp>
      <p:sp>
        <p:nvSpPr>
          <p:cNvPr id="47" name="text-33"/>
          <p:cNvSpPr txBox="1"/>
          <p:nvPr/>
        </p:nvSpPr>
        <p:spPr>
          <a:xfrm>
            <a:off x="6949440" y="5806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 XOR comparison  →  NOR match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4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Digital Access Card Verification?</a:t>
            </a:r>
            <a:endParaRPr lang="en-US" sz="3000" dirty="0"/>
          </a:p>
        </p:txBody>
      </p:sp>
      <p:sp>
        <p:nvSpPr>
          <p:cNvPr id="4" name="icon circle-35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icon-3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1599103"/>
            <a:ext cx="294803" cy="294803"/>
          </a:xfrm>
          <a:prstGeom prst="rect">
            <a:avLst/>
          </a:prstGeom>
        </p:spPr>
      </p:pic>
      <p:sp>
        <p:nvSpPr>
          <p:cNvPr id="6" name="text-37"/>
          <p:cNvSpPr txBox="1"/>
          <p:nvPr/>
        </p:nvSpPr>
        <p:spPr>
          <a:xfrm>
            <a:off x="1325880" y="1444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7" name="text-38"/>
          <p:cNvSpPr txBox="1"/>
          <p:nvPr/>
        </p:nvSpPr>
        <p:spPr>
          <a:xfrm>
            <a:off x="1325880" y="175564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circuit reads the ID on a card and checks whether it matches the ID stored in the system before allowing entry.</a:t>
            </a:r>
            <a:endParaRPr lang="en-US" sz="1400" dirty="0"/>
          </a:p>
        </p:txBody>
      </p:sp>
      <p:sp>
        <p:nvSpPr>
          <p:cNvPr id="8" name="icon circle-39"/>
          <p:cNvSpPr/>
          <p:nvPr/>
        </p:nvSpPr>
        <p:spPr>
          <a:xfrm>
            <a:off x="548640" y="2450592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9" name="icon-4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2586655"/>
            <a:ext cx="294803" cy="294803"/>
          </a:xfrm>
          <a:prstGeom prst="rect">
            <a:avLst/>
          </a:prstGeom>
        </p:spPr>
      </p:pic>
      <p:sp>
        <p:nvSpPr>
          <p:cNvPr id="10" name="text-41"/>
          <p:cNvSpPr txBox="1"/>
          <p:nvPr/>
        </p:nvSpPr>
        <p:spPr>
          <a:xfrm>
            <a:off x="1325880" y="24323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useful</a:t>
            </a:r>
            <a:endParaRPr lang="en-US" sz="1700" dirty="0"/>
          </a:p>
        </p:txBody>
      </p:sp>
      <p:sp>
        <p:nvSpPr>
          <p:cNvPr id="11" name="text-42"/>
          <p:cNvSpPr txBox="1"/>
          <p:nvPr/>
        </p:nvSpPr>
        <p:spPr>
          <a:xfrm>
            <a:off x="1325880" y="2743200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automates entry control for labs, offices and libraries with a fast, rule-based yes/no decision and no manual checking.</a:t>
            </a:r>
            <a:endParaRPr lang="en-US" sz="1400" dirty="0"/>
          </a:p>
        </p:txBody>
      </p:sp>
      <p:sp>
        <p:nvSpPr>
          <p:cNvPr id="12" name="icon circle-43"/>
          <p:cNvSpPr/>
          <p:nvPr/>
        </p:nvSpPr>
        <p:spPr>
          <a:xfrm>
            <a:off x="548640" y="3438144"/>
            <a:ext cx="566928" cy="566928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13" name="icon-4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3574207"/>
            <a:ext cx="294803" cy="294803"/>
          </a:xfrm>
          <a:prstGeom prst="rect">
            <a:avLst/>
          </a:prstGeom>
        </p:spPr>
      </p:pic>
      <p:sp>
        <p:nvSpPr>
          <p:cNvPr id="14" name="text-45"/>
          <p:cNvSpPr txBox="1"/>
          <p:nvPr/>
        </p:nvSpPr>
        <p:spPr>
          <a:xfrm>
            <a:off x="1325880" y="3419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comparison works</a:t>
            </a:r>
            <a:endParaRPr lang="en-US" sz="1700" dirty="0"/>
          </a:p>
        </p:txBody>
      </p:sp>
      <p:sp>
        <p:nvSpPr>
          <p:cNvPr id="15" name="text-46"/>
          <p:cNvSpPr txBox="1"/>
          <p:nvPr/>
        </p:nvSpPr>
        <p:spPr>
          <a:xfrm>
            <a:off x="1325880" y="373075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stored 4-bit ID (S3–S0) is compared bit by bit with an entered 4-bit ID (E3–E0).</a:t>
            </a:r>
            <a:endParaRPr lang="en-US" sz="1400" dirty="0"/>
          </a:p>
        </p:txBody>
      </p:sp>
      <p:sp>
        <p:nvSpPr>
          <p:cNvPr id="16" name="box-47"/>
          <p:cNvSpPr/>
          <p:nvPr/>
        </p:nvSpPr>
        <p:spPr>
          <a:xfrm>
            <a:off x="548640" y="457200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17" name="text-48"/>
          <p:cNvSpPr txBox="1"/>
          <p:nvPr/>
        </p:nvSpPr>
        <p:spPr>
          <a:xfrm>
            <a:off x="685800" y="4681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gates</a:t>
            </a:r>
            <a:endParaRPr lang="en-US" sz="1500" dirty="0"/>
          </a:p>
        </p:txBody>
      </p:sp>
      <p:sp>
        <p:nvSpPr>
          <p:cNvPr id="18" name="text-49"/>
          <p:cNvSpPr txBox="1"/>
          <p:nvPr/>
        </p:nvSpPr>
        <p:spPr>
          <a:xfrm>
            <a:off x="685800" y="5029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bit pair; output 1 on a mismatch</a:t>
            </a:r>
            <a:endParaRPr lang="en-US" sz="1300" dirty="0"/>
          </a:p>
        </p:txBody>
      </p:sp>
      <p:sp>
        <p:nvSpPr>
          <p:cNvPr id="19" name="box-50"/>
          <p:cNvSpPr/>
          <p:nvPr/>
        </p:nvSpPr>
        <p:spPr>
          <a:xfrm>
            <a:off x="2359152" y="457200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20" name="text-51"/>
          <p:cNvSpPr txBox="1"/>
          <p:nvPr/>
        </p:nvSpPr>
        <p:spPr>
          <a:xfrm>
            <a:off x="2496312" y="4681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logic</a:t>
            </a:r>
            <a:endParaRPr lang="en-US" sz="1500" dirty="0"/>
          </a:p>
        </p:txBody>
      </p:sp>
      <p:sp>
        <p:nvSpPr>
          <p:cNvPr id="21" name="text-52"/>
          <p:cNvSpPr txBox="1"/>
          <p:nvPr/>
        </p:nvSpPr>
        <p:spPr>
          <a:xfrm>
            <a:off x="2496312" y="5029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1 only when no bit mismatches</a:t>
            </a:r>
            <a:endParaRPr lang="en-US" sz="1300" dirty="0"/>
          </a:p>
        </p:txBody>
      </p:sp>
      <p:sp>
        <p:nvSpPr>
          <p:cNvPr id="22" name="box-53"/>
          <p:cNvSpPr/>
          <p:nvPr/>
        </p:nvSpPr>
        <p:spPr>
          <a:xfrm>
            <a:off x="4169664" y="4572000"/>
            <a:ext cx="1664208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23" name="text-54"/>
          <p:cNvSpPr txBox="1"/>
          <p:nvPr/>
        </p:nvSpPr>
        <p:spPr>
          <a:xfrm>
            <a:off x="4306824" y="4681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00" dirty="0"/>
          </a:p>
        </p:txBody>
      </p:sp>
      <p:sp>
        <p:nvSpPr>
          <p:cNvPr id="24" name="text-55"/>
          <p:cNvSpPr txBox="1"/>
          <p:nvPr/>
        </p:nvSpPr>
        <p:spPr>
          <a:xfrm>
            <a:off x="4306824" y="50292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 or ACCESS DENIED</a:t>
            </a:r>
            <a:endParaRPr lang="en-US" sz="1300" dirty="0"/>
          </a:p>
        </p:txBody>
      </p:sp>
      <p:sp>
        <p:nvSpPr>
          <p:cNvPr id="25" name="System overview panel"/>
          <p:cNvSpPr/>
          <p:nvPr/>
        </p:nvSpPr>
        <p:spPr>
          <a:xfrm>
            <a:off x="6400800" y="1371600"/>
            <a:ext cx="5239512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/>
        </p:spPr>
      </p:sp>
      <p:sp>
        <p:nvSpPr>
          <p:cNvPr id="26" name="text-56"/>
          <p:cNvSpPr txBox="1"/>
          <p:nvPr/>
        </p:nvSpPr>
        <p:spPr>
          <a:xfrm>
            <a:off x="66751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27" name="box-57"/>
          <p:cNvSpPr/>
          <p:nvPr/>
        </p:nvSpPr>
        <p:spPr>
          <a:xfrm>
            <a:off x="6675120" y="1920240"/>
            <a:ext cx="22402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28" name="icon circle-58"/>
          <p:cNvSpPr/>
          <p:nvPr/>
        </p:nvSpPr>
        <p:spPr>
          <a:xfrm>
            <a:off x="6812280" y="2103120"/>
            <a:ext cx="502920" cy="50292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29" name="icon-5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1" y="2223821"/>
            <a:ext cx="261518" cy="261518"/>
          </a:xfrm>
          <a:prstGeom prst="rect">
            <a:avLst/>
          </a:prstGeom>
        </p:spPr>
      </p:pic>
      <p:sp>
        <p:nvSpPr>
          <p:cNvPr id="30" name="text-60"/>
          <p:cNvSpPr txBox="1"/>
          <p:nvPr/>
        </p:nvSpPr>
        <p:spPr>
          <a:xfrm>
            <a:off x="7406640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ID</a:t>
            </a:r>
            <a:endParaRPr lang="en-US" sz="1300" dirty="0"/>
          </a:p>
        </p:txBody>
      </p:sp>
      <p:sp>
        <p:nvSpPr>
          <p:cNvPr id="31" name="text-61"/>
          <p:cNvSpPr txBox="1"/>
          <p:nvPr/>
        </p:nvSpPr>
        <p:spPr>
          <a:xfrm>
            <a:off x="740664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S2 S1 S0</a:t>
            </a:r>
            <a:endParaRPr lang="en-US" sz="1300" dirty="0"/>
          </a:p>
        </p:txBody>
      </p:sp>
      <p:sp>
        <p:nvSpPr>
          <p:cNvPr id="32" name="box-62"/>
          <p:cNvSpPr/>
          <p:nvPr/>
        </p:nvSpPr>
        <p:spPr>
          <a:xfrm>
            <a:off x="9125712" y="1920240"/>
            <a:ext cx="22402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33" name="icon circle-63"/>
          <p:cNvSpPr/>
          <p:nvPr/>
        </p:nvSpPr>
        <p:spPr>
          <a:xfrm>
            <a:off x="9262872" y="210312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4" name="icon-6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573" y="2223821"/>
            <a:ext cx="261518" cy="261518"/>
          </a:xfrm>
          <a:prstGeom prst="rect">
            <a:avLst/>
          </a:prstGeom>
        </p:spPr>
      </p:pic>
      <p:sp>
        <p:nvSpPr>
          <p:cNvPr id="35" name="text-65"/>
          <p:cNvSpPr txBox="1"/>
          <p:nvPr/>
        </p:nvSpPr>
        <p:spPr>
          <a:xfrm>
            <a:off x="9857232" y="20299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ID (card)</a:t>
            </a:r>
            <a:endParaRPr lang="en-US" sz="1300" dirty="0"/>
          </a:p>
        </p:txBody>
      </p:sp>
      <p:sp>
        <p:nvSpPr>
          <p:cNvPr id="36" name="text-66"/>
          <p:cNvSpPr txBox="1"/>
          <p:nvPr/>
        </p:nvSpPr>
        <p:spPr>
          <a:xfrm>
            <a:off x="9857232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E2 E1 E0</a:t>
            </a:r>
            <a:endParaRPr lang="en-US" sz="1300" dirty="0"/>
          </a:p>
        </p:txBody>
      </p:sp>
      <p:sp>
        <p:nvSpPr>
          <p:cNvPr id="37" name="wire-67"/>
          <p:cNvSpPr/>
          <p:nvPr/>
        </p:nvSpPr>
        <p:spPr>
          <a:xfrm>
            <a:off x="7795260" y="2788920"/>
            <a:ext cx="0" cy="36576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8" name="wire-68"/>
          <p:cNvSpPr/>
          <p:nvPr/>
        </p:nvSpPr>
        <p:spPr>
          <a:xfrm>
            <a:off x="10245852" y="2788920"/>
            <a:ext cx="0" cy="36576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9" name="box-69"/>
          <p:cNvSpPr/>
          <p:nvPr/>
        </p:nvSpPr>
        <p:spPr>
          <a:xfrm>
            <a:off x="6675120" y="3154680"/>
            <a:ext cx="4690872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40" name="text-70"/>
          <p:cNvSpPr txBox="1"/>
          <p:nvPr/>
        </p:nvSpPr>
        <p:spPr>
          <a:xfrm>
            <a:off x="6675120" y="315468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XOR bit comparators   →   X3 X2 X1 X0</a:t>
            </a:r>
            <a:endParaRPr lang="en-US" sz="1500" dirty="0"/>
          </a:p>
        </p:txBody>
      </p:sp>
      <p:sp>
        <p:nvSpPr>
          <p:cNvPr id="41" name="wire-71"/>
          <p:cNvSpPr/>
          <p:nvPr/>
        </p:nvSpPr>
        <p:spPr>
          <a:xfrm>
            <a:off x="9020556" y="3794760"/>
            <a:ext cx="0" cy="32004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2" name="box-72"/>
          <p:cNvSpPr/>
          <p:nvPr/>
        </p:nvSpPr>
        <p:spPr>
          <a:xfrm>
            <a:off x="6675120" y="4114800"/>
            <a:ext cx="4690872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</p:sp>
      <p:sp>
        <p:nvSpPr>
          <p:cNvPr id="43" name="text-73"/>
          <p:cNvSpPr txBox="1"/>
          <p:nvPr/>
        </p:nvSpPr>
        <p:spPr>
          <a:xfrm>
            <a:off x="6675120" y="411480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 match detector   →   MATCH</a:t>
            </a:r>
            <a:endParaRPr lang="en-US" sz="1500" dirty="0"/>
          </a:p>
        </p:txBody>
      </p:sp>
      <p:sp>
        <p:nvSpPr>
          <p:cNvPr id="44" name="wire-74"/>
          <p:cNvSpPr/>
          <p:nvPr/>
        </p:nvSpPr>
        <p:spPr>
          <a:xfrm>
            <a:off x="9020556" y="4754880"/>
            <a:ext cx="0" cy="2286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45" name="wire-75"/>
          <p:cNvSpPr/>
          <p:nvPr/>
        </p:nvSpPr>
        <p:spPr>
          <a:xfrm>
            <a:off x="7795260" y="4983480"/>
            <a:ext cx="2450592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46" name="wire-76"/>
          <p:cNvSpPr/>
          <p:nvPr/>
        </p:nvSpPr>
        <p:spPr>
          <a:xfrm>
            <a:off x="7795260" y="4983480"/>
            <a:ext cx="0" cy="2286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7" name="wire-77"/>
          <p:cNvSpPr/>
          <p:nvPr/>
        </p:nvSpPr>
        <p:spPr>
          <a:xfrm>
            <a:off x="10245852" y="4983480"/>
            <a:ext cx="0" cy="2286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8" name="box-78"/>
          <p:cNvSpPr/>
          <p:nvPr/>
        </p:nvSpPr>
        <p:spPr>
          <a:xfrm>
            <a:off x="6675120" y="5212080"/>
            <a:ext cx="2240280" cy="713232"/>
          </a:xfrm>
          <a:prstGeom prst="roundRect">
            <a:avLst>
              <a:gd name="adj" fmla="val 10256"/>
            </a:avLst>
          </a:prstGeom>
          <a:solidFill>
            <a:schemeClr val="accent4"/>
          </a:solidFill>
          <a:ln/>
        </p:spPr>
      </p:sp>
      <p:sp>
        <p:nvSpPr>
          <p:cNvPr id="49" name="text-79"/>
          <p:cNvSpPr txBox="1"/>
          <p:nvPr/>
        </p:nvSpPr>
        <p:spPr>
          <a:xfrm>
            <a:off x="6675120" y="52486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GRANTED</a:t>
            </a:r>
            <a:endParaRPr lang="en-US" sz="1400" dirty="0"/>
          </a:p>
        </p:txBody>
      </p:sp>
      <p:sp>
        <p:nvSpPr>
          <p:cNvPr id="50" name="text-80"/>
          <p:cNvSpPr txBox="1"/>
          <p:nvPr/>
        </p:nvSpPr>
        <p:spPr>
          <a:xfrm>
            <a:off x="6675120" y="5577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= 1</a:t>
            </a:r>
            <a:endParaRPr lang="en-US" sz="1200" dirty="0"/>
          </a:p>
        </p:txBody>
      </p:sp>
      <p:sp>
        <p:nvSpPr>
          <p:cNvPr id="51" name="box-81"/>
          <p:cNvSpPr/>
          <p:nvPr/>
        </p:nvSpPr>
        <p:spPr>
          <a:xfrm>
            <a:off x="9125712" y="5212080"/>
            <a:ext cx="2240280" cy="713232"/>
          </a:xfrm>
          <a:prstGeom prst="roundRect">
            <a:avLst>
              <a:gd name="adj" fmla="val 10256"/>
            </a:avLst>
          </a:prstGeom>
          <a:solidFill>
            <a:schemeClr val="accent5"/>
          </a:solidFill>
          <a:ln/>
        </p:spPr>
      </p:sp>
      <p:sp>
        <p:nvSpPr>
          <p:cNvPr id="52" name="text-82"/>
          <p:cNvSpPr txBox="1"/>
          <p:nvPr/>
        </p:nvSpPr>
        <p:spPr>
          <a:xfrm>
            <a:off x="9125712" y="52486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DENIED</a:t>
            </a:r>
            <a:endParaRPr lang="en-US" sz="1400" dirty="0"/>
          </a:p>
        </p:txBody>
      </p:sp>
      <p:sp>
        <p:nvSpPr>
          <p:cNvPr id="53" name="text-83"/>
          <p:cNvSpPr txBox="1"/>
          <p:nvPr/>
        </p:nvSpPr>
        <p:spPr>
          <a:xfrm>
            <a:off x="9125712" y="5577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= 0</a:t>
            </a:r>
            <a:endParaRPr lang="en-US" sz="12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4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Abstract, Problem Statement and Objectives</a:t>
            </a:r>
            <a:endParaRPr lang="en-US" sz="3000" dirty="0"/>
          </a:p>
        </p:txBody>
      </p:sp>
      <p:sp>
        <p:nvSpPr>
          <p:cNvPr id="4" name="box-85"/>
          <p:cNvSpPr/>
          <p:nvPr/>
        </p:nvSpPr>
        <p:spPr>
          <a:xfrm>
            <a:off x="548640" y="1371600"/>
            <a:ext cx="55778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5" name="icon circle-86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6" name="icon-8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664208"/>
            <a:ext cx="237744" cy="237744"/>
          </a:xfrm>
          <a:prstGeom prst="rect">
            <a:avLst/>
          </a:prstGeom>
        </p:spPr>
      </p:pic>
      <p:sp>
        <p:nvSpPr>
          <p:cNvPr id="7" name="text-88"/>
          <p:cNvSpPr txBox="1"/>
          <p:nvPr/>
        </p:nvSpPr>
        <p:spPr>
          <a:xfrm>
            <a:off x="137160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-89"/>
          <p:cNvSpPr txBox="1"/>
          <p:nvPr/>
        </p:nvSpPr>
        <p:spPr>
          <a:xfrm>
            <a:off x="777240" y="2121408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 and simulates a four-bit digital access card verification circuit. Four XOR gates compare a stored ID with an entered ID bit by bit, and NOR-based logic asserts MATCH only when every bit agrees. MATCH drives the ACCESS GRANTED and ACCESS DENIED indicators. The design is verified with truth tables and simulated in Logisim Evolution.</a:t>
            </a:r>
            <a:endParaRPr lang="en-US" sz="1400" dirty="0"/>
          </a:p>
        </p:txBody>
      </p:sp>
      <p:sp>
        <p:nvSpPr>
          <p:cNvPr id="9" name="box-90"/>
          <p:cNvSpPr/>
          <p:nvPr/>
        </p:nvSpPr>
        <p:spPr>
          <a:xfrm>
            <a:off x="548640" y="3931920"/>
            <a:ext cx="5577840" cy="2148840"/>
          </a:xfrm>
          <a:prstGeom prst="roundRect">
            <a:avLst>
              <a:gd name="adj" fmla="val 4255"/>
            </a:avLst>
          </a:prstGeom>
          <a:solidFill>
            <a:schemeClr val="tx1"/>
          </a:solidFill>
          <a:ln/>
        </p:spPr>
      </p:sp>
      <p:sp>
        <p:nvSpPr>
          <p:cNvPr id="10" name="icon circle-91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1" name="icon-9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24528"/>
            <a:ext cx="237744" cy="237744"/>
          </a:xfrm>
          <a:prstGeom prst="rect">
            <a:avLst/>
          </a:prstGeom>
        </p:spPr>
      </p:pic>
      <p:sp>
        <p:nvSpPr>
          <p:cNvPr id="12" name="text-93"/>
          <p:cNvSpPr txBox="1"/>
          <p:nvPr/>
        </p:nvSpPr>
        <p:spPr>
          <a:xfrm>
            <a:off x="1371600" y="41330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3" name="text-94"/>
          <p:cNvSpPr txBox="1"/>
          <p:nvPr/>
        </p:nvSpPr>
        <p:spPr>
          <a:xfrm>
            <a:off x="777240" y="4681728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needs an instant, reliable decision on whether a presented ID is authorised; manual checking is slow and error-prone. The task is to design a simple combinational circuit that compares two 4-bit binary IDs and outputs a clear grant or deny decision.</a:t>
            </a:r>
            <a:endParaRPr lang="en-US" sz="1400" dirty="0"/>
          </a:p>
        </p:txBody>
      </p:sp>
      <p:sp>
        <p:nvSpPr>
          <p:cNvPr id="14" name="icon circle-95"/>
          <p:cNvSpPr/>
          <p:nvPr/>
        </p:nvSpPr>
        <p:spPr>
          <a:xfrm>
            <a:off x="6492240" y="13716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5" name="icon-9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1481328"/>
            <a:ext cx="237744" cy="237744"/>
          </a:xfrm>
          <a:prstGeom prst="rect">
            <a:avLst/>
          </a:prstGeom>
        </p:spPr>
      </p:pic>
      <p:sp>
        <p:nvSpPr>
          <p:cNvPr id="16" name="text-97"/>
          <p:cNvSpPr txBox="1"/>
          <p:nvPr/>
        </p:nvSpPr>
        <p:spPr>
          <a:xfrm>
            <a:off x="7086600" y="1389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7" name="box-98"/>
          <p:cNvSpPr/>
          <p:nvPr/>
        </p:nvSpPr>
        <p:spPr>
          <a:xfrm>
            <a:off x="6492240" y="2011680"/>
            <a:ext cx="514807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18" name="objective number-99"/>
          <p:cNvSpPr/>
          <p:nvPr/>
        </p:nvSpPr>
        <p:spPr>
          <a:xfrm>
            <a:off x="6629400" y="21122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-100"/>
          <p:cNvSpPr txBox="1"/>
          <p:nvPr/>
        </p:nvSpPr>
        <p:spPr>
          <a:xfrm>
            <a:off x="662940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-101"/>
          <p:cNvSpPr txBox="1"/>
          <p:nvPr/>
        </p:nvSpPr>
        <p:spPr>
          <a:xfrm>
            <a:off x="7178040" y="20116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four-bit digital access verification system.</a:t>
            </a:r>
            <a:endParaRPr lang="en-US" sz="1400" dirty="0"/>
          </a:p>
        </p:txBody>
      </p:sp>
      <p:sp>
        <p:nvSpPr>
          <p:cNvPr id="21" name="box-102"/>
          <p:cNvSpPr/>
          <p:nvPr/>
        </p:nvSpPr>
        <p:spPr>
          <a:xfrm>
            <a:off x="6492240" y="2697480"/>
            <a:ext cx="514807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22" name="objective number-103"/>
          <p:cNvSpPr/>
          <p:nvPr/>
        </p:nvSpPr>
        <p:spPr>
          <a:xfrm>
            <a:off x="6629400" y="279806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-104"/>
          <p:cNvSpPr txBox="1"/>
          <p:nvPr/>
        </p:nvSpPr>
        <p:spPr>
          <a:xfrm>
            <a:off x="662940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-105"/>
          <p:cNvSpPr txBox="1"/>
          <p:nvPr/>
        </p:nvSpPr>
        <p:spPr>
          <a:xfrm>
            <a:off x="7178040" y="26974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entered and stored binary IDs.</a:t>
            </a:r>
            <a:endParaRPr lang="en-US" sz="1400" dirty="0"/>
          </a:p>
        </p:txBody>
      </p:sp>
      <p:sp>
        <p:nvSpPr>
          <p:cNvPr id="25" name="box-106"/>
          <p:cNvSpPr/>
          <p:nvPr/>
        </p:nvSpPr>
        <p:spPr>
          <a:xfrm>
            <a:off x="6492240" y="3383280"/>
            <a:ext cx="514807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26" name="objective number-107"/>
          <p:cNvSpPr/>
          <p:nvPr/>
        </p:nvSpPr>
        <p:spPr>
          <a:xfrm>
            <a:off x="6629400" y="34838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-108"/>
          <p:cNvSpPr txBox="1"/>
          <p:nvPr/>
        </p:nvSpPr>
        <p:spPr>
          <a:xfrm>
            <a:off x="662940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-109"/>
          <p:cNvSpPr txBox="1"/>
          <p:nvPr/>
        </p:nvSpPr>
        <p:spPr>
          <a:xfrm>
            <a:off x="7178040" y="33832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mismatches using XOR gates.</a:t>
            </a:r>
            <a:endParaRPr lang="en-US" sz="1400" dirty="0"/>
          </a:p>
        </p:txBody>
      </p:sp>
      <p:sp>
        <p:nvSpPr>
          <p:cNvPr id="29" name="box-110"/>
          <p:cNvSpPr/>
          <p:nvPr/>
        </p:nvSpPr>
        <p:spPr>
          <a:xfrm>
            <a:off x="6492240" y="4069080"/>
            <a:ext cx="514807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0" name="objective number-111"/>
          <p:cNvSpPr/>
          <p:nvPr/>
        </p:nvSpPr>
        <p:spPr>
          <a:xfrm>
            <a:off x="6629400" y="416966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text-112"/>
          <p:cNvSpPr txBox="1"/>
          <p:nvPr/>
        </p:nvSpPr>
        <p:spPr>
          <a:xfrm>
            <a:off x="6629400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-113"/>
          <p:cNvSpPr txBox="1"/>
          <p:nvPr/>
        </p:nvSpPr>
        <p:spPr>
          <a:xfrm>
            <a:off x="7178040" y="40690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complete match using NOR logic.</a:t>
            </a:r>
            <a:endParaRPr lang="en-US" sz="1400" dirty="0"/>
          </a:p>
        </p:txBody>
      </p:sp>
      <p:sp>
        <p:nvSpPr>
          <p:cNvPr id="33" name="box-114"/>
          <p:cNvSpPr/>
          <p:nvPr/>
        </p:nvSpPr>
        <p:spPr>
          <a:xfrm>
            <a:off x="6492240" y="4754880"/>
            <a:ext cx="514807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4" name="objective number-115"/>
          <p:cNvSpPr/>
          <p:nvPr/>
        </p:nvSpPr>
        <p:spPr>
          <a:xfrm>
            <a:off x="6629400" y="485546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-116"/>
          <p:cNvSpPr txBox="1"/>
          <p:nvPr/>
        </p:nvSpPr>
        <p:spPr>
          <a:xfrm>
            <a:off x="662940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-117"/>
          <p:cNvSpPr txBox="1"/>
          <p:nvPr/>
        </p:nvSpPr>
        <p:spPr>
          <a:xfrm>
            <a:off x="7178040" y="47548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access-granted and access-denied outputs.</a:t>
            </a:r>
            <a:endParaRPr lang="en-US" sz="1400" dirty="0"/>
          </a:p>
        </p:txBody>
      </p:sp>
      <p:sp>
        <p:nvSpPr>
          <p:cNvPr id="37" name="box-118"/>
          <p:cNvSpPr/>
          <p:nvPr/>
        </p:nvSpPr>
        <p:spPr>
          <a:xfrm>
            <a:off x="6492240" y="5440680"/>
            <a:ext cx="5148072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8" name="objective number-119"/>
          <p:cNvSpPr/>
          <p:nvPr/>
        </p:nvSpPr>
        <p:spPr>
          <a:xfrm>
            <a:off x="6629400" y="5541264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-120"/>
          <p:cNvSpPr txBox="1"/>
          <p:nvPr/>
        </p:nvSpPr>
        <p:spPr>
          <a:xfrm>
            <a:off x="6629400" y="5541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-121"/>
          <p:cNvSpPr txBox="1"/>
          <p:nvPr/>
        </p:nvSpPr>
        <p:spPr>
          <a:xfrm>
            <a:off x="7178040" y="54406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design using truth tables and Logisim simulation.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22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MAPPING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Outcomes (COs)</a:t>
            </a:r>
            <a:endParaRPr lang="en-US" sz="3000" dirty="0"/>
          </a:p>
        </p:txBody>
      </p:sp>
      <p:graphicFrame>
        <p:nvGraphicFramePr>
          <p:cNvPr id="5" name="Course outcom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224528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outcome (summary)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this project connects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 digital information with binary number systems and logic gates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 are 4-bit binary numbers; XOR and NOR gates make the 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simulate combinational logic and a simple ALU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verifier is a combinational circuit; its NOR stage works like an ALU zero flag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sequential logic: flip-flops, registers, counters and FSMs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an attempt counter and a lockout state 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the register file and memory subsystem of a processor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many authorised IDs in a register file or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RISC-V instructions and the single-cycle processor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check in software: xor, then beqz on the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a processor with architectural features and peripherals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an RFID reader and door lock as peripherals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-123"/>
          <p:cNvSpPr txBox="1"/>
          <p:nvPr/>
        </p:nvSpPr>
        <p:spPr>
          <a:xfrm>
            <a:off x="548640" y="58064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covered directly by this project.   Extension: reached through the project's future scope.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24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Required and Scope</a:t>
            </a:r>
            <a:endParaRPr lang="en-US" sz="3000" dirty="0"/>
          </a:p>
        </p:txBody>
      </p:sp>
      <p:graphicFrame>
        <p:nvGraphicFramePr>
          <p:cNvPr id="6" name="Requirem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040880" cy="3968496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Stored-ID input bits (S3–S0)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the authorised card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Entered-ID input bits (E3–E0)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 the ID read from the 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2-input XOR gates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each bit pair; output 1 on a mismatch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NOR-based match detector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= 1 only when all XOR outputs are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indicators (LEDs)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GRANTED = MATCH; DENIED = NOT MATCH (one inverter)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Logisim Evolution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Build, simulate and verify the circuit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-125"/>
          <p:cNvSpPr txBox="1"/>
          <p:nvPr/>
        </p:nvSpPr>
        <p:spPr>
          <a:xfrm>
            <a:off x="548640" y="56235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 detector can be one 4-input NOR gate or an equivalent network of 2-input NOR gates (slide 8).</a:t>
            </a:r>
            <a:endParaRPr lang="en-US" sz="1200" dirty="0"/>
          </a:p>
        </p:txBody>
      </p:sp>
      <p:sp>
        <p:nvSpPr>
          <p:cNvPr id="4" name="box-126"/>
          <p:cNvSpPr/>
          <p:nvPr/>
        </p:nvSpPr>
        <p:spPr>
          <a:xfrm>
            <a:off x="7955280" y="1417320"/>
            <a:ext cx="3685032" cy="4663440"/>
          </a:xfrm>
          <a:prstGeom prst="roundRect">
            <a:avLst>
              <a:gd name="adj" fmla="val 2978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7" name="text-127"/>
          <p:cNvSpPr txBox="1"/>
          <p:nvPr/>
        </p:nvSpPr>
        <p:spPr>
          <a:xfrm>
            <a:off x="82296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8" name="icon circle-128"/>
          <p:cNvSpPr/>
          <p:nvPr/>
        </p:nvSpPr>
        <p:spPr>
          <a:xfrm>
            <a:off x="8229600" y="20116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9" name="icon-12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121408"/>
            <a:ext cx="237744" cy="237744"/>
          </a:xfrm>
          <a:prstGeom prst="rect">
            <a:avLst/>
          </a:prstGeom>
        </p:spPr>
      </p:pic>
      <p:sp>
        <p:nvSpPr>
          <p:cNvPr id="10" name="text-130"/>
          <p:cNvSpPr txBox="1"/>
          <p:nvPr/>
        </p:nvSpPr>
        <p:spPr>
          <a:xfrm>
            <a:off x="8823960" y="19933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gate-level design</a:t>
            </a:r>
            <a:endParaRPr lang="en-US" sz="1400" dirty="0"/>
          </a:p>
        </p:txBody>
      </p:sp>
      <p:sp>
        <p:nvSpPr>
          <p:cNvPr id="11" name="text-131"/>
          <p:cNvSpPr txBox="1"/>
          <p:nvPr/>
        </p:nvSpPr>
        <p:spPr>
          <a:xfrm>
            <a:off x="8823960" y="22860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 full path from bit comparison to the final GRANTED / DENIED decision.</a:t>
            </a:r>
            <a:endParaRPr lang="en-US" sz="1200" dirty="0"/>
          </a:p>
        </p:txBody>
      </p:sp>
      <p:sp>
        <p:nvSpPr>
          <p:cNvPr id="12" name="icon circle-132"/>
          <p:cNvSpPr/>
          <p:nvPr/>
        </p:nvSpPr>
        <p:spPr>
          <a:xfrm>
            <a:off x="8229600" y="3035808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3" name="icon-13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145536"/>
            <a:ext cx="237744" cy="237744"/>
          </a:xfrm>
          <a:prstGeom prst="rect">
            <a:avLst/>
          </a:prstGeom>
        </p:spPr>
      </p:pic>
      <p:sp>
        <p:nvSpPr>
          <p:cNvPr id="14" name="text-134"/>
          <p:cNvSpPr txBox="1"/>
          <p:nvPr/>
        </p:nvSpPr>
        <p:spPr>
          <a:xfrm>
            <a:off x="882396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 Logisim Evolution</a:t>
            </a:r>
            <a:endParaRPr lang="en-US" sz="1400" dirty="0"/>
          </a:p>
        </p:txBody>
      </p:sp>
      <p:sp>
        <p:nvSpPr>
          <p:cNvPr id="15" name="text-135"/>
          <p:cNvSpPr txBox="1"/>
          <p:nvPr/>
        </p:nvSpPr>
        <p:spPr>
          <a:xfrm>
            <a:off x="8823960" y="33101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case can be built, run and checked against the truth table in simulation.</a:t>
            </a:r>
            <a:endParaRPr lang="en-US" sz="1200" dirty="0"/>
          </a:p>
        </p:txBody>
      </p:sp>
      <p:sp>
        <p:nvSpPr>
          <p:cNvPr id="16" name="icon circle-136"/>
          <p:cNvSpPr/>
          <p:nvPr/>
        </p:nvSpPr>
        <p:spPr>
          <a:xfrm>
            <a:off x="8229600" y="4059936"/>
            <a:ext cx="457200" cy="4572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7" name="icon-13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4169664"/>
            <a:ext cx="237744" cy="237744"/>
          </a:xfrm>
          <a:prstGeom prst="rect">
            <a:avLst/>
          </a:prstGeom>
        </p:spPr>
      </p:pic>
      <p:sp>
        <p:nvSpPr>
          <p:cNvPr id="18" name="text-138"/>
          <p:cNvSpPr txBox="1"/>
          <p:nvPr/>
        </p:nvSpPr>
        <p:spPr>
          <a:xfrm>
            <a:off x="8823960" y="4041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ID inputs</a:t>
            </a:r>
            <a:endParaRPr lang="en-US" sz="1400" dirty="0"/>
          </a:p>
        </p:txBody>
      </p:sp>
      <p:sp>
        <p:nvSpPr>
          <p:cNvPr id="19" name="text-139"/>
          <p:cNvSpPr txBox="1"/>
          <p:nvPr/>
        </p:nvSpPr>
        <p:spPr>
          <a:xfrm>
            <a:off x="8823960" y="43342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input pins represent the stored and entered card IDs and can be set to any value.</a:t>
            </a:r>
            <a:endParaRPr lang="en-US" sz="1200" dirty="0"/>
          </a:p>
        </p:txBody>
      </p:sp>
      <p:sp>
        <p:nvSpPr>
          <p:cNvPr id="20" name="Future scope note"/>
          <p:cNvSpPr/>
          <p:nvPr/>
        </p:nvSpPr>
        <p:spPr>
          <a:xfrm>
            <a:off x="8138160" y="5074920"/>
            <a:ext cx="3319272" cy="841248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pic>
        <p:nvPicPr>
          <p:cNvPr id="21" name="Future scope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5230368"/>
            <a:ext cx="274320" cy="274320"/>
          </a:xfrm>
          <a:prstGeom prst="rect">
            <a:avLst/>
          </a:prstGeom>
        </p:spPr>
      </p:pic>
      <p:sp>
        <p:nvSpPr>
          <p:cNvPr id="22" name="text-140"/>
          <p:cNvSpPr txBox="1"/>
          <p:nvPr/>
        </p:nvSpPr>
        <p:spPr>
          <a:xfrm>
            <a:off x="8641080" y="5120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verified design as a hardware prototype with logic ICs and a card reader.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4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Block Diagram</a:t>
            </a:r>
            <a:endParaRPr lang="en-US" sz="3000" dirty="0"/>
          </a:p>
        </p:txBody>
      </p:sp>
      <p:sp>
        <p:nvSpPr>
          <p:cNvPr id="4" name="box-142"/>
          <p:cNvSpPr/>
          <p:nvPr/>
        </p:nvSpPr>
        <p:spPr>
          <a:xfrm>
            <a:off x="548640" y="1691640"/>
            <a:ext cx="20116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5" name="icon circle-143"/>
          <p:cNvSpPr/>
          <p:nvPr/>
        </p:nvSpPr>
        <p:spPr>
          <a:xfrm>
            <a:off x="685800" y="1828800"/>
            <a:ext cx="384048" cy="384048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6" name="icon-14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1920972"/>
            <a:ext cx="199705" cy="199705"/>
          </a:xfrm>
          <a:prstGeom prst="rect">
            <a:avLst/>
          </a:prstGeom>
        </p:spPr>
      </p:pic>
      <p:sp>
        <p:nvSpPr>
          <p:cNvPr id="7" name="text-145"/>
          <p:cNvSpPr txBox="1"/>
          <p:nvPr/>
        </p:nvSpPr>
        <p:spPr>
          <a:xfrm>
            <a:off x="114300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ID</a:t>
            </a:r>
            <a:endParaRPr lang="en-US" sz="1300" dirty="0"/>
          </a:p>
        </p:txBody>
      </p:sp>
      <p:sp>
        <p:nvSpPr>
          <p:cNvPr id="8" name="box-146"/>
          <p:cNvSpPr/>
          <p:nvPr/>
        </p:nvSpPr>
        <p:spPr>
          <a:xfrm>
            <a:off x="704088" y="2350008"/>
            <a:ext cx="384048" cy="384048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9" name="text-147"/>
          <p:cNvSpPr txBox="1"/>
          <p:nvPr/>
        </p:nvSpPr>
        <p:spPr>
          <a:xfrm>
            <a:off x="7040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200" dirty="0"/>
          </a:p>
        </p:txBody>
      </p:sp>
      <p:sp>
        <p:nvSpPr>
          <p:cNvPr id="10" name="box-148"/>
          <p:cNvSpPr/>
          <p:nvPr/>
        </p:nvSpPr>
        <p:spPr>
          <a:xfrm>
            <a:off x="1133856" y="2350008"/>
            <a:ext cx="384048" cy="384048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1" name="text-149"/>
          <p:cNvSpPr txBox="1"/>
          <p:nvPr/>
        </p:nvSpPr>
        <p:spPr>
          <a:xfrm>
            <a:off x="1133856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200" dirty="0"/>
          </a:p>
        </p:txBody>
      </p:sp>
      <p:sp>
        <p:nvSpPr>
          <p:cNvPr id="12" name="box-150"/>
          <p:cNvSpPr/>
          <p:nvPr/>
        </p:nvSpPr>
        <p:spPr>
          <a:xfrm>
            <a:off x="1563624" y="2350008"/>
            <a:ext cx="384048" cy="384048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3" name="text-151"/>
          <p:cNvSpPr txBox="1"/>
          <p:nvPr/>
        </p:nvSpPr>
        <p:spPr>
          <a:xfrm>
            <a:off x="1563624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200" dirty="0"/>
          </a:p>
        </p:txBody>
      </p:sp>
      <p:sp>
        <p:nvSpPr>
          <p:cNvPr id="14" name="box-152"/>
          <p:cNvSpPr/>
          <p:nvPr/>
        </p:nvSpPr>
        <p:spPr>
          <a:xfrm>
            <a:off x="1993392" y="2350008"/>
            <a:ext cx="384048" cy="384048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5" name="text-153"/>
          <p:cNvSpPr txBox="1"/>
          <p:nvPr/>
        </p:nvSpPr>
        <p:spPr>
          <a:xfrm>
            <a:off x="1993392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</a:t>
            </a:r>
            <a:endParaRPr lang="en-US" sz="1200" dirty="0"/>
          </a:p>
        </p:txBody>
      </p:sp>
      <p:sp>
        <p:nvSpPr>
          <p:cNvPr id="16" name="text-154"/>
          <p:cNvSpPr txBox="1"/>
          <p:nvPr/>
        </p:nvSpPr>
        <p:spPr>
          <a:xfrm>
            <a:off x="685800" y="28346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system memory</a:t>
            </a:r>
            <a:endParaRPr lang="en-US" sz="1100" dirty="0"/>
          </a:p>
        </p:txBody>
      </p:sp>
      <p:sp>
        <p:nvSpPr>
          <p:cNvPr id="17" name="box-155"/>
          <p:cNvSpPr/>
          <p:nvPr/>
        </p:nvSpPr>
        <p:spPr>
          <a:xfrm>
            <a:off x="548640" y="4160520"/>
            <a:ext cx="20116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18" name="icon circle-156"/>
          <p:cNvSpPr/>
          <p:nvPr/>
        </p:nvSpPr>
        <p:spPr>
          <a:xfrm>
            <a:off x="685800" y="429768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9" name="icon-15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4389852"/>
            <a:ext cx="199705" cy="199705"/>
          </a:xfrm>
          <a:prstGeom prst="rect">
            <a:avLst/>
          </a:prstGeom>
        </p:spPr>
      </p:pic>
      <p:sp>
        <p:nvSpPr>
          <p:cNvPr id="20" name="text-158"/>
          <p:cNvSpPr txBox="1"/>
          <p:nvPr/>
        </p:nvSpPr>
        <p:spPr>
          <a:xfrm>
            <a:off x="1143000" y="4297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ENTERED ID</a:t>
            </a:r>
            <a:endParaRPr lang="en-US" sz="1300" dirty="0"/>
          </a:p>
        </p:txBody>
      </p:sp>
      <p:sp>
        <p:nvSpPr>
          <p:cNvPr id="21" name="box-159"/>
          <p:cNvSpPr/>
          <p:nvPr/>
        </p:nvSpPr>
        <p:spPr>
          <a:xfrm>
            <a:off x="704088" y="4818888"/>
            <a:ext cx="384048" cy="384048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text-160"/>
          <p:cNvSpPr txBox="1"/>
          <p:nvPr/>
        </p:nvSpPr>
        <p:spPr>
          <a:xfrm>
            <a:off x="704088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endParaRPr lang="en-US" sz="1200" dirty="0"/>
          </a:p>
        </p:txBody>
      </p:sp>
      <p:sp>
        <p:nvSpPr>
          <p:cNvPr id="23" name="box-161"/>
          <p:cNvSpPr/>
          <p:nvPr/>
        </p:nvSpPr>
        <p:spPr>
          <a:xfrm>
            <a:off x="1133856" y="4818888"/>
            <a:ext cx="384048" cy="384048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4" name="text-162"/>
          <p:cNvSpPr txBox="1"/>
          <p:nvPr/>
        </p:nvSpPr>
        <p:spPr>
          <a:xfrm>
            <a:off x="1133856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200" dirty="0"/>
          </a:p>
        </p:txBody>
      </p:sp>
      <p:sp>
        <p:nvSpPr>
          <p:cNvPr id="25" name="box-163"/>
          <p:cNvSpPr/>
          <p:nvPr/>
        </p:nvSpPr>
        <p:spPr>
          <a:xfrm>
            <a:off x="1563624" y="4818888"/>
            <a:ext cx="384048" cy="384048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text-164"/>
          <p:cNvSpPr txBox="1"/>
          <p:nvPr/>
        </p:nvSpPr>
        <p:spPr>
          <a:xfrm>
            <a:off x="1563624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1200" dirty="0"/>
          </a:p>
        </p:txBody>
      </p:sp>
      <p:sp>
        <p:nvSpPr>
          <p:cNvPr id="27" name="box-165"/>
          <p:cNvSpPr/>
          <p:nvPr/>
        </p:nvSpPr>
        <p:spPr>
          <a:xfrm>
            <a:off x="1993392" y="4818888"/>
            <a:ext cx="384048" cy="384048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text-166"/>
          <p:cNvSpPr txBox="1"/>
          <p:nvPr/>
        </p:nvSpPr>
        <p:spPr>
          <a:xfrm>
            <a:off x="1993392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</a:t>
            </a:r>
            <a:endParaRPr lang="en-US" sz="1200" dirty="0"/>
          </a:p>
        </p:txBody>
      </p:sp>
      <p:sp>
        <p:nvSpPr>
          <p:cNvPr id="29" name="text-167"/>
          <p:cNvSpPr txBox="1"/>
          <p:nvPr/>
        </p:nvSpPr>
        <p:spPr>
          <a:xfrm>
            <a:off x="68580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access card</a:t>
            </a:r>
            <a:endParaRPr lang="en-US" sz="1100" dirty="0"/>
          </a:p>
        </p:txBody>
      </p:sp>
      <p:sp>
        <p:nvSpPr>
          <p:cNvPr id="30" name="box-168"/>
          <p:cNvSpPr/>
          <p:nvPr/>
        </p:nvSpPr>
        <p:spPr>
          <a:xfrm>
            <a:off x="3246120" y="1463040"/>
            <a:ext cx="2606040" cy="45262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31" name="text-169"/>
          <p:cNvSpPr txBox="1"/>
          <p:nvPr/>
        </p:nvSpPr>
        <p:spPr>
          <a:xfrm>
            <a:off x="3246120" y="1554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BITWISE XOR COMPARATORS</a:t>
            </a:r>
            <a:endParaRPr lang="en-US" sz="1200" dirty="0"/>
          </a:p>
        </p:txBody>
      </p:sp>
      <p:sp>
        <p:nvSpPr>
          <p:cNvPr id="32" name="wire-170"/>
          <p:cNvSpPr/>
          <p:nvPr/>
        </p:nvSpPr>
        <p:spPr>
          <a:xfrm>
            <a:off x="2560320" y="2468880"/>
            <a:ext cx="68580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3" name="text-171"/>
          <p:cNvSpPr txBox="1"/>
          <p:nvPr/>
        </p:nvSpPr>
        <p:spPr>
          <a:xfrm>
            <a:off x="2606040" y="21579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S3–S0</a:t>
            </a:r>
            <a:endParaRPr lang="en-US" sz="1100" dirty="0"/>
          </a:p>
        </p:txBody>
      </p:sp>
      <p:sp>
        <p:nvSpPr>
          <p:cNvPr id="34" name="wire-172"/>
          <p:cNvSpPr/>
          <p:nvPr/>
        </p:nvSpPr>
        <p:spPr>
          <a:xfrm>
            <a:off x="2560320" y="4937760"/>
            <a:ext cx="6858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5" name="text-173"/>
          <p:cNvSpPr txBox="1"/>
          <p:nvPr/>
        </p:nvSpPr>
        <p:spPr>
          <a:xfrm>
            <a:off x="2606040" y="4626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E3–E0</a:t>
            </a:r>
            <a:endParaRPr lang="en-US" sz="1100" dirty="0"/>
          </a:p>
        </p:txBody>
      </p:sp>
      <p:sp>
        <p:nvSpPr>
          <p:cNvPr id="36" name="XOR input arc-174"/>
          <p:cNvSpPr/>
          <p:nvPr/>
        </p:nvSpPr>
        <p:spPr>
          <a:xfrm>
            <a:off x="3438144" y="1874520"/>
            <a:ext cx="685800" cy="548640"/>
          </a:xfrm>
          <a:custGeom>
            <a:avLst/>
            <a:gdLst/>
            <a:ahLst/>
            <a:cxnLst/>
            <a:rect l="l" t="t" r="r" b="b"/>
            <a:pathLst>
              <a:path w="685800" h="548640">
                <a:moveTo>
                  <a:pt x="0" y="0"/>
                </a:moveTo>
                <a:quadBezTo>
                  <a:pt x="205740" y="274320"/>
                  <a:pt x="0" y="548640"/>
                </a:quad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7" name="XOR gate-175"/>
          <p:cNvSpPr/>
          <p:nvPr/>
        </p:nvSpPr>
        <p:spPr>
          <a:xfrm>
            <a:off x="3520440" y="1874520"/>
            <a:ext cx="685800" cy="548640"/>
          </a:xfrm>
          <a:custGeom>
            <a:avLst/>
            <a:gdLst/>
            <a:ahLst/>
            <a:cxnLst/>
            <a:rect l="l" t="t" r="r" b="b"/>
            <a:pathLst>
              <a:path w="685800" h="548640">
                <a:moveTo>
                  <a:pt x="0" y="0"/>
                </a:moveTo>
                <a:cubicBezTo>
                  <a:pt x="377190" y="0"/>
                  <a:pt x="603504" y="98755"/>
                  <a:pt x="685800" y="274320"/>
                </a:cubicBezTo>
                <a:cubicBezTo>
                  <a:pt x="603504" y="449885"/>
                  <a:pt x="377190" y="548640"/>
                  <a:pt x="0" y="548640"/>
                </a:cubicBezTo>
                <a:quadBezTo>
                  <a:pt x="205740" y="274320"/>
                  <a:pt x="0" y="0"/>
                </a:quad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8" name="text-176"/>
          <p:cNvSpPr txBox="1"/>
          <p:nvPr/>
        </p:nvSpPr>
        <p:spPr>
          <a:xfrm>
            <a:off x="4389120" y="19842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 = S3 ⊕ E3</a:t>
            </a:r>
            <a:endParaRPr lang="en-US" sz="1300" dirty="0"/>
          </a:p>
        </p:txBody>
      </p:sp>
      <p:sp>
        <p:nvSpPr>
          <p:cNvPr id="39" name="wire-177"/>
          <p:cNvSpPr/>
          <p:nvPr/>
        </p:nvSpPr>
        <p:spPr>
          <a:xfrm>
            <a:off x="5852160" y="2148840"/>
            <a:ext cx="105156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0" name="text-178"/>
          <p:cNvSpPr txBox="1"/>
          <p:nvPr/>
        </p:nvSpPr>
        <p:spPr>
          <a:xfrm>
            <a:off x="6035040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</a:t>
            </a:r>
            <a:endParaRPr lang="en-US" sz="1300" dirty="0"/>
          </a:p>
        </p:txBody>
      </p:sp>
      <p:sp>
        <p:nvSpPr>
          <p:cNvPr id="41" name="XOR input arc-179"/>
          <p:cNvSpPr/>
          <p:nvPr/>
        </p:nvSpPr>
        <p:spPr>
          <a:xfrm>
            <a:off x="3438144" y="2834640"/>
            <a:ext cx="685800" cy="548640"/>
          </a:xfrm>
          <a:custGeom>
            <a:avLst/>
            <a:gdLst/>
            <a:ahLst/>
            <a:cxnLst/>
            <a:rect l="l" t="t" r="r" b="b"/>
            <a:pathLst>
              <a:path w="685800" h="548640">
                <a:moveTo>
                  <a:pt x="0" y="0"/>
                </a:moveTo>
                <a:quadBezTo>
                  <a:pt x="205740" y="274320"/>
                  <a:pt x="0" y="548640"/>
                </a:quad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2" name="XOR gate-180"/>
          <p:cNvSpPr/>
          <p:nvPr/>
        </p:nvSpPr>
        <p:spPr>
          <a:xfrm>
            <a:off x="3520440" y="2834640"/>
            <a:ext cx="685800" cy="548640"/>
          </a:xfrm>
          <a:custGeom>
            <a:avLst/>
            <a:gdLst/>
            <a:ahLst/>
            <a:cxnLst/>
            <a:rect l="l" t="t" r="r" b="b"/>
            <a:pathLst>
              <a:path w="685800" h="548640">
                <a:moveTo>
                  <a:pt x="0" y="0"/>
                </a:moveTo>
                <a:cubicBezTo>
                  <a:pt x="377190" y="0"/>
                  <a:pt x="603504" y="98755"/>
                  <a:pt x="685800" y="274320"/>
                </a:cubicBezTo>
                <a:cubicBezTo>
                  <a:pt x="603504" y="449885"/>
                  <a:pt x="377190" y="548640"/>
                  <a:pt x="0" y="548640"/>
                </a:cubicBezTo>
                <a:quadBezTo>
                  <a:pt x="205740" y="274320"/>
                  <a:pt x="0" y="0"/>
                </a:quad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3" name="text-181"/>
          <p:cNvSpPr txBox="1"/>
          <p:nvPr/>
        </p:nvSpPr>
        <p:spPr>
          <a:xfrm>
            <a:off x="4389120" y="294436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 = S2 ⊕ E2</a:t>
            </a:r>
            <a:endParaRPr lang="en-US" sz="1300" dirty="0"/>
          </a:p>
        </p:txBody>
      </p:sp>
      <p:sp>
        <p:nvSpPr>
          <p:cNvPr id="44" name="wire-182"/>
          <p:cNvSpPr/>
          <p:nvPr/>
        </p:nvSpPr>
        <p:spPr>
          <a:xfrm>
            <a:off x="5852160" y="3108960"/>
            <a:ext cx="105156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5" name="text-183"/>
          <p:cNvSpPr txBox="1"/>
          <p:nvPr/>
        </p:nvSpPr>
        <p:spPr>
          <a:xfrm>
            <a:off x="6035040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1300" dirty="0"/>
          </a:p>
        </p:txBody>
      </p:sp>
      <p:sp>
        <p:nvSpPr>
          <p:cNvPr id="46" name="XOR input arc-184"/>
          <p:cNvSpPr/>
          <p:nvPr/>
        </p:nvSpPr>
        <p:spPr>
          <a:xfrm>
            <a:off x="3438144" y="3794760"/>
            <a:ext cx="685800" cy="548640"/>
          </a:xfrm>
          <a:custGeom>
            <a:avLst/>
            <a:gdLst/>
            <a:ahLst/>
            <a:cxnLst/>
            <a:rect l="l" t="t" r="r" b="b"/>
            <a:pathLst>
              <a:path w="685800" h="548640">
                <a:moveTo>
                  <a:pt x="0" y="0"/>
                </a:moveTo>
                <a:quadBezTo>
                  <a:pt x="205740" y="274320"/>
                  <a:pt x="0" y="548640"/>
                </a:quad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47" name="XOR gate-185"/>
          <p:cNvSpPr/>
          <p:nvPr/>
        </p:nvSpPr>
        <p:spPr>
          <a:xfrm>
            <a:off x="3520440" y="3794760"/>
            <a:ext cx="685800" cy="548640"/>
          </a:xfrm>
          <a:custGeom>
            <a:avLst/>
            <a:gdLst/>
            <a:ahLst/>
            <a:cxnLst/>
            <a:rect l="l" t="t" r="r" b="b"/>
            <a:pathLst>
              <a:path w="685800" h="548640">
                <a:moveTo>
                  <a:pt x="0" y="0"/>
                </a:moveTo>
                <a:cubicBezTo>
                  <a:pt x="377190" y="0"/>
                  <a:pt x="603504" y="98755"/>
                  <a:pt x="685800" y="274320"/>
                </a:cubicBezTo>
                <a:cubicBezTo>
                  <a:pt x="603504" y="449885"/>
                  <a:pt x="377190" y="548640"/>
                  <a:pt x="0" y="548640"/>
                </a:cubicBezTo>
                <a:quadBezTo>
                  <a:pt x="205740" y="274320"/>
                  <a:pt x="0" y="0"/>
                </a:quad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8" name="text-186"/>
          <p:cNvSpPr txBox="1"/>
          <p:nvPr/>
        </p:nvSpPr>
        <p:spPr>
          <a:xfrm>
            <a:off x="4389120" y="390448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= S1 ⊕ E1</a:t>
            </a:r>
            <a:endParaRPr lang="en-US" sz="1300" dirty="0"/>
          </a:p>
        </p:txBody>
      </p:sp>
      <p:sp>
        <p:nvSpPr>
          <p:cNvPr id="49" name="wire-187"/>
          <p:cNvSpPr/>
          <p:nvPr/>
        </p:nvSpPr>
        <p:spPr>
          <a:xfrm>
            <a:off x="5852160" y="4069080"/>
            <a:ext cx="105156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0" name="text-188"/>
          <p:cNvSpPr txBox="1"/>
          <p:nvPr/>
        </p:nvSpPr>
        <p:spPr>
          <a:xfrm>
            <a:off x="6035040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300" dirty="0"/>
          </a:p>
        </p:txBody>
      </p:sp>
      <p:sp>
        <p:nvSpPr>
          <p:cNvPr id="51" name="XOR input arc-189"/>
          <p:cNvSpPr/>
          <p:nvPr/>
        </p:nvSpPr>
        <p:spPr>
          <a:xfrm>
            <a:off x="3438144" y="4754880"/>
            <a:ext cx="685800" cy="548640"/>
          </a:xfrm>
          <a:custGeom>
            <a:avLst/>
            <a:gdLst/>
            <a:ahLst/>
            <a:cxnLst/>
            <a:rect l="l" t="t" r="r" b="b"/>
            <a:pathLst>
              <a:path w="685800" h="548640">
                <a:moveTo>
                  <a:pt x="0" y="0"/>
                </a:moveTo>
                <a:quadBezTo>
                  <a:pt x="205740" y="274320"/>
                  <a:pt x="0" y="548640"/>
                </a:quadBezTo>
              </a:path>
            </a:pathLst>
          </a:cu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2" name="XOR gate-190"/>
          <p:cNvSpPr/>
          <p:nvPr/>
        </p:nvSpPr>
        <p:spPr>
          <a:xfrm>
            <a:off x="3520440" y="4754880"/>
            <a:ext cx="685800" cy="548640"/>
          </a:xfrm>
          <a:custGeom>
            <a:avLst/>
            <a:gdLst/>
            <a:ahLst/>
            <a:cxnLst/>
            <a:rect l="l" t="t" r="r" b="b"/>
            <a:pathLst>
              <a:path w="685800" h="548640">
                <a:moveTo>
                  <a:pt x="0" y="0"/>
                </a:moveTo>
                <a:cubicBezTo>
                  <a:pt x="377190" y="0"/>
                  <a:pt x="603504" y="98755"/>
                  <a:pt x="685800" y="274320"/>
                </a:cubicBezTo>
                <a:cubicBezTo>
                  <a:pt x="603504" y="449885"/>
                  <a:pt x="377190" y="548640"/>
                  <a:pt x="0" y="548640"/>
                </a:cubicBezTo>
                <a:quadBezTo>
                  <a:pt x="205740" y="274320"/>
                  <a:pt x="0" y="0"/>
                </a:quad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3" name="text-191"/>
          <p:cNvSpPr txBox="1"/>
          <p:nvPr/>
        </p:nvSpPr>
        <p:spPr>
          <a:xfrm>
            <a:off x="4389120" y="48646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S0 ⊕ E0</a:t>
            </a:r>
            <a:endParaRPr lang="en-US" sz="1300" dirty="0"/>
          </a:p>
        </p:txBody>
      </p:sp>
      <p:sp>
        <p:nvSpPr>
          <p:cNvPr id="54" name="wire-192"/>
          <p:cNvSpPr/>
          <p:nvPr/>
        </p:nvSpPr>
        <p:spPr>
          <a:xfrm>
            <a:off x="5852160" y="5029200"/>
            <a:ext cx="105156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5" name="text-193"/>
          <p:cNvSpPr txBox="1"/>
          <p:nvPr/>
        </p:nvSpPr>
        <p:spPr>
          <a:xfrm>
            <a:off x="6035040" y="47000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</a:t>
            </a:r>
            <a:endParaRPr lang="en-US" sz="1300" dirty="0"/>
          </a:p>
        </p:txBody>
      </p:sp>
      <p:sp>
        <p:nvSpPr>
          <p:cNvPr id="56" name="text-194"/>
          <p:cNvSpPr txBox="1"/>
          <p:nvPr/>
        </p:nvSpPr>
        <p:spPr>
          <a:xfrm>
            <a:off x="5806440" y="5440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B0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SIGNALS</a:t>
            </a:r>
            <a:endParaRPr lang="en-US" sz="1000" dirty="0"/>
          </a:p>
        </p:txBody>
      </p:sp>
      <p:sp>
        <p:nvSpPr>
          <p:cNvPr id="57" name="box-195"/>
          <p:cNvSpPr/>
          <p:nvPr/>
        </p:nvSpPr>
        <p:spPr>
          <a:xfrm>
            <a:off x="6903720" y="1783080"/>
            <a:ext cx="2057400" cy="3611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58" name="text-196"/>
          <p:cNvSpPr txBox="1"/>
          <p:nvPr/>
        </p:nvSpPr>
        <p:spPr>
          <a:xfrm>
            <a:off x="6995160" y="1892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NOR-BASED MATCH DETECTION</a:t>
            </a:r>
            <a:endParaRPr lang="en-US" sz="1200" dirty="0"/>
          </a:p>
        </p:txBody>
      </p:sp>
      <p:sp>
        <p:nvSpPr>
          <p:cNvPr id="59" name="NOR gate-197"/>
          <p:cNvSpPr/>
          <p:nvPr/>
        </p:nvSpPr>
        <p:spPr>
          <a:xfrm>
            <a:off x="7360920" y="2926080"/>
            <a:ext cx="960120" cy="914400"/>
          </a:xfrm>
          <a:custGeom>
            <a:avLst/>
            <a:gdLst/>
            <a:ahLst/>
            <a:cxnLst/>
            <a:rect l="l" t="t" r="r" b="b"/>
            <a:pathLst>
              <a:path w="960120" h="914400">
                <a:moveTo>
                  <a:pt x="0" y="0"/>
                </a:moveTo>
                <a:cubicBezTo>
                  <a:pt x="528066" y="0"/>
                  <a:pt x="844906" y="164592"/>
                  <a:pt x="960120" y="457200"/>
                </a:cubicBezTo>
                <a:cubicBezTo>
                  <a:pt x="844906" y="749808"/>
                  <a:pt x="528066" y="914400"/>
                  <a:pt x="0" y="914400"/>
                </a:cubicBezTo>
                <a:quadBezTo>
                  <a:pt x="288036" y="457200"/>
                  <a:pt x="0" y="0"/>
                </a:quadBez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0" name="inversion bubble-198"/>
          <p:cNvSpPr/>
          <p:nvPr/>
        </p:nvSpPr>
        <p:spPr>
          <a:xfrm>
            <a:off x="8321040" y="3310128"/>
            <a:ext cx="146304" cy="14630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1" name="text-199"/>
          <p:cNvSpPr txBox="1"/>
          <p:nvPr/>
        </p:nvSpPr>
        <p:spPr>
          <a:xfrm>
            <a:off x="7476134" y="3246120"/>
            <a:ext cx="720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endParaRPr lang="en-US" sz="1200" dirty="0"/>
          </a:p>
        </p:txBody>
      </p:sp>
      <p:sp>
        <p:nvSpPr>
          <p:cNvPr id="62" name="text-200"/>
          <p:cNvSpPr txBox="1"/>
          <p:nvPr/>
        </p:nvSpPr>
        <p:spPr>
          <a:xfrm>
            <a:off x="7040880" y="41605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= NOT(X3 + X2 + X1 + X0)</a:t>
            </a:r>
            <a:endParaRPr lang="en-US" sz="1200" dirty="0"/>
          </a:p>
        </p:txBody>
      </p:sp>
      <p:sp>
        <p:nvSpPr>
          <p:cNvPr id="63" name="wire-201"/>
          <p:cNvSpPr/>
          <p:nvPr/>
        </p:nvSpPr>
        <p:spPr>
          <a:xfrm>
            <a:off x="8961120" y="3383280"/>
            <a:ext cx="41148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</a:ln>
        </p:spPr>
      </p:sp>
      <p:sp>
        <p:nvSpPr>
          <p:cNvPr id="64" name="text-202"/>
          <p:cNvSpPr txBox="1"/>
          <p:nvPr/>
        </p:nvSpPr>
        <p:spPr>
          <a:xfrm>
            <a:off x="8887968" y="3072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1100" dirty="0"/>
          </a:p>
        </p:txBody>
      </p:sp>
      <p:sp>
        <p:nvSpPr>
          <p:cNvPr id="65" name="wire-203"/>
          <p:cNvSpPr/>
          <p:nvPr/>
        </p:nvSpPr>
        <p:spPr>
          <a:xfrm>
            <a:off x="9372600" y="2514600"/>
            <a:ext cx="0" cy="201168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</a:ln>
        </p:spPr>
      </p:sp>
      <p:sp>
        <p:nvSpPr>
          <p:cNvPr id="66" name="node-204"/>
          <p:cNvSpPr/>
          <p:nvPr/>
        </p:nvSpPr>
        <p:spPr>
          <a:xfrm>
            <a:off x="9331452" y="3342132"/>
            <a:ext cx="82296" cy="82296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7" name="wire-205"/>
          <p:cNvSpPr/>
          <p:nvPr/>
        </p:nvSpPr>
        <p:spPr>
          <a:xfrm>
            <a:off x="9372600" y="2514600"/>
            <a:ext cx="27432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8" name="wire-206"/>
          <p:cNvSpPr/>
          <p:nvPr/>
        </p:nvSpPr>
        <p:spPr>
          <a:xfrm>
            <a:off x="9372600" y="4526280"/>
            <a:ext cx="27432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9" name="box-207"/>
          <p:cNvSpPr/>
          <p:nvPr/>
        </p:nvSpPr>
        <p:spPr>
          <a:xfrm>
            <a:off x="9646920" y="1920240"/>
            <a:ext cx="1993392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pic>
        <p:nvPicPr>
          <p:cNvPr id="70" name="output icon-20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2075688"/>
            <a:ext cx="292608" cy="292608"/>
          </a:xfrm>
          <a:prstGeom prst="rect">
            <a:avLst/>
          </a:prstGeom>
        </p:spPr>
      </p:pic>
      <p:sp>
        <p:nvSpPr>
          <p:cNvPr id="71" name="text-209"/>
          <p:cNvSpPr txBox="1"/>
          <p:nvPr/>
        </p:nvSpPr>
        <p:spPr>
          <a:xfrm>
            <a:off x="9784080" y="2423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GRANTED</a:t>
            </a:r>
            <a:endParaRPr lang="en-US" sz="1400" dirty="0"/>
          </a:p>
        </p:txBody>
      </p:sp>
      <p:sp>
        <p:nvSpPr>
          <p:cNvPr id="72" name="text-210"/>
          <p:cNvSpPr txBox="1"/>
          <p:nvPr/>
        </p:nvSpPr>
        <p:spPr>
          <a:xfrm>
            <a:off x="9784080" y="27249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MATCH = 1</a:t>
            </a:r>
            <a:endParaRPr lang="en-US" sz="1200" dirty="0"/>
          </a:p>
        </p:txBody>
      </p:sp>
      <p:sp>
        <p:nvSpPr>
          <p:cNvPr id="73" name="box-211"/>
          <p:cNvSpPr/>
          <p:nvPr/>
        </p:nvSpPr>
        <p:spPr>
          <a:xfrm>
            <a:off x="9646920" y="3931920"/>
            <a:ext cx="1993392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pic>
        <p:nvPicPr>
          <p:cNvPr id="74" name="output icon-2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8" y="4087368"/>
            <a:ext cx="292608" cy="292608"/>
          </a:xfrm>
          <a:prstGeom prst="rect">
            <a:avLst/>
          </a:prstGeom>
        </p:spPr>
      </p:pic>
      <p:sp>
        <p:nvSpPr>
          <p:cNvPr id="75" name="text-213"/>
          <p:cNvSpPr txBox="1"/>
          <p:nvPr/>
        </p:nvSpPr>
        <p:spPr>
          <a:xfrm>
            <a:off x="9784080" y="4434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DENIED</a:t>
            </a:r>
            <a:endParaRPr lang="en-US" sz="1400" dirty="0"/>
          </a:p>
        </p:txBody>
      </p:sp>
      <p:sp>
        <p:nvSpPr>
          <p:cNvPr id="76" name="text-214"/>
          <p:cNvSpPr txBox="1"/>
          <p:nvPr/>
        </p:nvSpPr>
        <p:spPr>
          <a:xfrm>
            <a:off x="9784080" y="4736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MATCH = 0</a:t>
            </a:r>
            <a:endParaRPr lang="en-US" sz="1200" dirty="0"/>
          </a:p>
        </p:txBody>
      </p:sp>
      <p:sp>
        <p:nvSpPr>
          <p:cNvPr id="77" name="text-215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+ Entered ID  →  Bitwise XOR comparators  →  Mismatch signals X3–X0  →  NOR match detection  →  Access Granted / Denied</a:t>
            </a:r>
            <a:endParaRPr lang="en-US" sz="120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16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STAGE 1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Gate Operation: Bitwise Comparison</a:t>
            </a:r>
            <a:endParaRPr lang="en-US" sz="3000" dirty="0"/>
          </a:p>
        </p:txBody>
      </p:sp>
      <p:sp>
        <p:nvSpPr>
          <p:cNvPr id="4" name="box-217"/>
          <p:cNvSpPr/>
          <p:nvPr/>
        </p:nvSpPr>
        <p:spPr>
          <a:xfrm>
            <a:off x="548640" y="1371600"/>
            <a:ext cx="39319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-218"/>
          <p:cNvSpPr txBox="1"/>
          <p:nvPr/>
        </p:nvSpPr>
        <p:spPr>
          <a:xfrm>
            <a:off x="777240" y="15087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outputs 0 when its inputs are equal and 1 when they differ, so each XOR output flags one mismatched bit.</a:t>
            </a:r>
            <a:endParaRPr lang="en-US" sz="1400" dirty="0"/>
          </a:p>
        </p:txBody>
      </p:sp>
      <p:sp>
        <p:nvSpPr>
          <p:cNvPr id="6" name="text-219"/>
          <p:cNvSpPr txBox="1"/>
          <p:nvPr/>
        </p:nvSpPr>
        <p:spPr>
          <a:xfrm>
            <a:off x="10058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-220"/>
          <p:cNvSpPr txBox="1"/>
          <p:nvPr/>
        </p:nvSpPr>
        <p:spPr>
          <a:xfrm>
            <a:off x="10058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wire-221"/>
          <p:cNvSpPr/>
          <p:nvPr/>
        </p:nvSpPr>
        <p:spPr>
          <a:xfrm>
            <a:off x="1280160" y="2788920"/>
            <a:ext cx="7315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9" name="wire-222"/>
          <p:cNvSpPr/>
          <p:nvPr/>
        </p:nvSpPr>
        <p:spPr>
          <a:xfrm>
            <a:off x="1280160" y="3246120"/>
            <a:ext cx="73152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0" name="XOR input arc-223"/>
          <p:cNvSpPr/>
          <p:nvPr/>
        </p:nvSpPr>
        <p:spPr>
          <a:xfrm>
            <a:off x="1708099" y="2606040"/>
            <a:ext cx="1005840" cy="822960"/>
          </a:xfrm>
          <a:custGeom>
            <a:avLst/>
            <a:gdLst/>
            <a:ahLst/>
            <a:cxnLst/>
            <a:rect l="l" t="t" r="r" b="b"/>
            <a:pathLst>
              <a:path w="1005840" h="822960">
                <a:moveTo>
                  <a:pt x="0" y="0"/>
                </a:moveTo>
                <a:quadBezTo>
                  <a:pt x="301752" y="411480"/>
                  <a:pt x="0" y="822960"/>
                </a:quadBezTo>
              </a:path>
            </a:pathLst>
          </a:cu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11" name="XOR gate-224"/>
          <p:cNvSpPr/>
          <p:nvPr/>
        </p:nvSpPr>
        <p:spPr>
          <a:xfrm>
            <a:off x="1828800" y="2606040"/>
            <a:ext cx="1005840" cy="822960"/>
          </a:xfrm>
          <a:custGeom>
            <a:avLst/>
            <a:gdLst/>
            <a:ahLst/>
            <a:cxnLst/>
            <a:rect l="l" t="t" r="r" b="b"/>
            <a:pathLst>
              <a:path w="1005840" h="822960">
                <a:moveTo>
                  <a:pt x="0" y="0"/>
                </a:moveTo>
                <a:cubicBezTo>
                  <a:pt x="553212" y="0"/>
                  <a:pt x="885139" y="148133"/>
                  <a:pt x="1005840" y="411480"/>
                </a:cubicBezTo>
                <a:cubicBezTo>
                  <a:pt x="885139" y="674827"/>
                  <a:pt x="553212" y="822960"/>
                  <a:pt x="0" y="822960"/>
                </a:cubicBezTo>
                <a:quadBezTo>
                  <a:pt x="301752" y="411480"/>
                  <a:pt x="0" y="0"/>
                </a:quadBezTo>
                <a:close/>
              </a:path>
            </a:pathLst>
          </a:cu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12" name="text-225"/>
          <p:cNvSpPr txBox="1"/>
          <p:nvPr/>
        </p:nvSpPr>
        <p:spPr>
          <a:xfrm>
            <a:off x="1949501" y="2880360"/>
            <a:ext cx="754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200" dirty="0"/>
          </a:p>
        </p:txBody>
      </p:sp>
      <p:sp>
        <p:nvSpPr>
          <p:cNvPr id="13" name="wire-226"/>
          <p:cNvSpPr/>
          <p:nvPr/>
        </p:nvSpPr>
        <p:spPr>
          <a:xfrm>
            <a:off x="2834640" y="3017520"/>
            <a:ext cx="77724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text-227"/>
          <p:cNvSpPr txBox="1"/>
          <p:nvPr/>
        </p:nvSpPr>
        <p:spPr>
          <a:xfrm>
            <a:off x="288036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A ⊕ B</a:t>
            </a:r>
            <a:endParaRPr lang="en-US" sz="1300" dirty="0"/>
          </a:p>
        </p:txBody>
      </p:sp>
      <p:graphicFrame>
        <p:nvGraphicFramePr>
          <p:cNvPr id="15" name="XOR 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2743200" cy="21945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-228"/>
          <p:cNvSpPr txBox="1"/>
          <p:nvPr/>
        </p:nvSpPr>
        <p:spPr>
          <a:xfrm>
            <a:off x="475488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inputs → 0 (green)   Different → 1 (red)</a:t>
            </a:r>
            <a:endParaRPr lang="en-US" sz="1100" dirty="0"/>
          </a:p>
        </p:txBody>
      </p:sp>
      <p:sp>
        <p:nvSpPr>
          <p:cNvPr id="17" name="box-229"/>
          <p:cNvSpPr/>
          <p:nvPr/>
        </p:nvSpPr>
        <p:spPr>
          <a:xfrm>
            <a:off x="7772400" y="1371600"/>
            <a:ext cx="3867912" cy="251460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18" name="text-230"/>
          <p:cNvSpPr txBox="1"/>
          <p:nvPr/>
        </p:nvSpPr>
        <p:spPr>
          <a:xfrm>
            <a:off x="80010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BIT-LEVEL EQUATIONS</a:t>
            </a:r>
            <a:endParaRPr lang="en-US" sz="1200" dirty="0"/>
          </a:p>
        </p:txBody>
      </p:sp>
      <p:sp>
        <p:nvSpPr>
          <p:cNvPr id="19" name="text-231"/>
          <p:cNvSpPr txBox="1"/>
          <p:nvPr/>
        </p:nvSpPr>
        <p:spPr>
          <a:xfrm>
            <a:off x="8001000" y="18745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 = S3 XOR E3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 = S2 XOR E2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= S1 XOR E1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S0 XOR E0</a:t>
            </a:r>
            <a:endParaRPr lang="en-US" sz="1800" dirty="0"/>
          </a:p>
        </p:txBody>
      </p:sp>
      <p:sp>
        <p:nvSpPr>
          <p:cNvPr id="20" name="box-232"/>
          <p:cNvSpPr/>
          <p:nvPr/>
        </p:nvSpPr>
        <p:spPr>
          <a:xfrm>
            <a:off x="548640" y="41148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EEF8F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1" name="text-233"/>
          <p:cNvSpPr txBox="1"/>
          <p:nvPr/>
        </p:nvSpPr>
        <p:spPr>
          <a:xfrm>
            <a:off x="77724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example: 1010 vs 1010</a:t>
            </a:r>
            <a:endParaRPr lang="en-US" sz="1500" dirty="0"/>
          </a:p>
        </p:txBody>
      </p:sp>
      <p:sp>
        <p:nvSpPr>
          <p:cNvPr id="22" name="text-234"/>
          <p:cNvSpPr txBox="1"/>
          <p:nvPr/>
        </p:nvSpPr>
        <p:spPr>
          <a:xfrm>
            <a:off x="777240" y="45902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  S</a:t>
            </a:r>
            <a:endParaRPr lang="en-US" sz="1300" dirty="0"/>
          </a:p>
        </p:txBody>
      </p:sp>
      <p:sp>
        <p:nvSpPr>
          <p:cNvPr id="23" name="box-235"/>
          <p:cNvSpPr/>
          <p:nvPr/>
        </p:nvSpPr>
        <p:spPr>
          <a:xfrm>
            <a:off x="2057400" y="459028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24" name="text-236"/>
          <p:cNvSpPr txBox="1"/>
          <p:nvPr/>
        </p:nvSpPr>
        <p:spPr>
          <a:xfrm>
            <a:off x="2057400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box-237"/>
          <p:cNvSpPr/>
          <p:nvPr/>
        </p:nvSpPr>
        <p:spPr>
          <a:xfrm>
            <a:off x="2487168" y="459028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26" name="text-238"/>
          <p:cNvSpPr txBox="1"/>
          <p:nvPr/>
        </p:nvSpPr>
        <p:spPr>
          <a:xfrm>
            <a:off x="2487168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7" name="box-239"/>
          <p:cNvSpPr/>
          <p:nvPr/>
        </p:nvSpPr>
        <p:spPr>
          <a:xfrm>
            <a:off x="2916936" y="459028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28" name="text-240"/>
          <p:cNvSpPr txBox="1"/>
          <p:nvPr/>
        </p:nvSpPr>
        <p:spPr>
          <a:xfrm>
            <a:off x="2916936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box-241"/>
          <p:cNvSpPr/>
          <p:nvPr/>
        </p:nvSpPr>
        <p:spPr>
          <a:xfrm>
            <a:off x="3346704" y="459028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0" name="text-242"/>
          <p:cNvSpPr txBox="1"/>
          <p:nvPr/>
        </p:nvSpPr>
        <p:spPr>
          <a:xfrm>
            <a:off x="3346704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-243"/>
          <p:cNvSpPr txBox="1"/>
          <p:nvPr/>
        </p:nvSpPr>
        <p:spPr>
          <a:xfrm>
            <a:off x="777240" y="50017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Entered E</a:t>
            </a:r>
            <a:endParaRPr lang="en-US" sz="1300" dirty="0"/>
          </a:p>
        </p:txBody>
      </p:sp>
      <p:sp>
        <p:nvSpPr>
          <p:cNvPr id="32" name="box-244"/>
          <p:cNvSpPr/>
          <p:nvPr/>
        </p:nvSpPr>
        <p:spPr>
          <a:xfrm>
            <a:off x="2057400" y="500176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3" name="text-245"/>
          <p:cNvSpPr txBox="1"/>
          <p:nvPr/>
        </p:nvSpPr>
        <p:spPr>
          <a:xfrm>
            <a:off x="2057400" y="5001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box-246"/>
          <p:cNvSpPr/>
          <p:nvPr/>
        </p:nvSpPr>
        <p:spPr>
          <a:xfrm>
            <a:off x="2487168" y="500176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5" name="text-247"/>
          <p:cNvSpPr txBox="1"/>
          <p:nvPr/>
        </p:nvSpPr>
        <p:spPr>
          <a:xfrm>
            <a:off x="2487168" y="5001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6" name="box-248"/>
          <p:cNvSpPr/>
          <p:nvPr/>
        </p:nvSpPr>
        <p:spPr>
          <a:xfrm>
            <a:off x="2916936" y="500176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7" name="text-249"/>
          <p:cNvSpPr txBox="1"/>
          <p:nvPr/>
        </p:nvSpPr>
        <p:spPr>
          <a:xfrm>
            <a:off x="2916936" y="5001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box-250"/>
          <p:cNvSpPr/>
          <p:nvPr/>
        </p:nvSpPr>
        <p:spPr>
          <a:xfrm>
            <a:off x="3346704" y="500176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39" name="text-251"/>
          <p:cNvSpPr txBox="1"/>
          <p:nvPr/>
        </p:nvSpPr>
        <p:spPr>
          <a:xfrm>
            <a:off x="3346704" y="5001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40" name="text-252"/>
          <p:cNvSpPr txBox="1"/>
          <p:nvPr/>
        </p:nvSpPr>
        <p:spPr>
          <a:xfrm>
            <a:off x="777240" y="54132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    X</a:t>
            </a:r>
            <a:endParaRPr lang="en-US" sz="1300" dirty="0"/>
          </a:p>
        </p:txBody>
      </p:sp>
      <p:sp>
        <p:nvSpPr>
          <p:cNvPr id="41" name="box-253"/>
          <p:cNvSpPr/>
          <p:nvPr/>
        </p:nvSpPr>
        <p:spPr>
          <a:xfrm>
            <a:off x="2057400" y="541324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text-254"/>
          <p:cNvSpPr txBox="1"/>
          <p:nvPr/>
        </p:nvSpPr>
        <p:spPr>
          <a:xfrm>
            <a:off x="2057400" y="5413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43" name="box-255"/>
          <p:cNvSpPr/>
          <p:nvPr/>
        </p:nvSpPr>
        <p:spPr>
          <a:xfrm>
            <a:off x="2487168" y="541324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text-256"/>
          <p:cNvSpPr txBox="1"/>
          <p:nvPr/>
        </p:nvSpPr>
        <p:spPr>
          <a:xfrm>
            <a:off x="2487168" y="5413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45" name="box-257"/>
          <p:cNvSpPr/>
          <p:nvPr/>
        </p:nvSpPr>
        <p:spPr>
          <a:xfrm>
            <a:off x="2916936" y="541324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6" name="text-258"/>
          <p:cNvSpPr txBox="1"/>
          <p:nvPr/>
        </p:nvSpPr>
        <p:spPr>
          <a:xfrm>
            <a:off x="2916936" y="5413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47" name="box-259"/>
          <p:cNvSpPr/>
          <p:nvPr/>
        </p:nvSpPr>
        <p:spPr>
          <a:xfrm>
            <a:off x="3346704" y="541324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8" name="text-260"/>
          <p:cNvSpPr txBox="1"/>
          <p:nvPr/>
        </p:nvSpPr>
        <p:spPr>
          <a:xfrm>
            <a:off x="3346704" y="5413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49" name="text-261"/>
          <p:cNvSpPr txBox="1"/>
          <p:nvPr/>
        </p:nvSpPr>
        <p:spPr>
          <a:xfrm>
            <a:off x="3977640" y="459028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bits equal → XOR = 0000 → no mismatch</a:t>
            </a:r>
            <a:endParaRPr lang="en-US" sz="1300" dirty="0"/>
          </a:p>
        </p:txBody>
      </p:sp>
      <p:sp>
        <p:nvSpPr>
          <p:cNvPr id="50" name="box-262"/>
          <p:cNvSpPr/>
          <p:nvPr/>
        </p:nvSpPr>
        <p:spPr>
          <a:xfrm>
            <a:off x="6199632" y="41148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CEEEE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1" name="text-263"/>
          <p:cNvSpPr txBox="1"/>
          <p:nvPr/>
        </p:nvSpPr>
        <p:spPr>
          <a:xfrm>
            <a:off x="6428232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Mismatching example: 1010 vs 1000</a:t>
            </a:r>
            <a:endParaRPr lang="en-US" sz="1500" dirty="0"/>
          </a:p>
        </p:txBody>
      </p:sp>
      <p:sp>
        <p:nvSpPr>
          <p:cNvPr id="52" name="text-264"/>
          <p:cNvSpPr txBox="1"/>
          <p:nvPr/>
        </p:nvSpPr>
        <p:spPr>
          <a:xfrm>
            <a:off x="6428232" y="45902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  S</a:t>
            </a:r>
            <a:endParaRPr lang="en-US" sz="1300" dirty="0"/>
          </a:p>
        </p:txBody>
      </p:sp>
      <p:sp>
        <p:nvSpPr>
          <p:cNvPr id="53" name="box-265"/>
          <p:cNvSpPr/>
          <p:nvPr/>
        </p:nvSpPr>
        <p:spPr>
          <a:xfrm>
            <a:off x="7708392" y="459028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54" name="text-266"/>
          <p:cNvSpPr txBox="1"/>
          <p:nvPr/>
        </p:nvSpPr>
        <p:spPr>
          <a:xfrm>
            <a:off x="7708392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5" name="box-267"/>
          <p:cNvSpPr/>
          <p:nvPr/>
        </p:nvSpPr>
        <p:spPr>
          <a:xfrm>
            <a:off x="8138160" y="459028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56" name="text-268"/>
          <p:cNvSpPr txBox="1"/>
          <p:nvPr/>
        </p:nvSpPr>
        <p:spPr>
          <a:xfrm>
            <a:off x="8138160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7" name="box-269"/>
          <p:cNvSpPr/>
          <p:nvPr/>
        </p:nvSpPr>
        <p:spPr>
          <a:xfrm>
            <a:off x="8567928" y="459028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58" name="text-270"/>
          <p:cNvSpPr txBox="1"/>
          <p:nvPr/>
        </p:nvSpPr>
        <p:spPr>
          <a:xfrm>
            <a:off x="8567928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box-271"/>
          <p:cNvSpPr/>
          <p:nvPr/>
        </p:nvSpPr>
        <p:spPr>
          <a:xfrm>
            <a:off x="8997696" y="459028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60" name="text-272"/>
          <p:cNvSpPr txBox="1"/>
          <p:nvPr/>
        </p:nvSpPr>
        <p:spPr>
          <a:xfrm>
            <a:off x="8997696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61" name="text-273"/>
          <p:cNvSpPr txBox="1"/>
          <p:nvPr/>
        </p:nvSpPr>
        <p:spPr>
          <a:xfrm>
            <a:off x="6428232" y="50017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Entered E</a:t>
            </a:r>
            <a:endParaRPr lang="en-US" sz="1300" dirty="0"/>
          </a:p>
        </p:txBody>
      </p:sp>
      <p:sp>
        <p:nvSpPr>
          <p:cNvPr id="62" name="box-274"/>
          <p:cNvSpPr/>
          <p:nvPr/>
        </p:nvSpPr>
        <p:spPr>
          <a:xfrm>
            <a:off x="7708392" y="500176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63" name="text-275"/>
          <p:cNvSpPr txBox="1"/>
          <p:nvPr/>
        </p:nvSpPr>
        <p:spPr>
          <a:xfrm>
            <a:off x="7708392" y="5001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4" name="box-276"/>
          <p:cNvSpPr/>
          <p:nvPr/>
        </p:nvSpPr>
        <p:spPr>
          <a:xfrm>
            <a:off x="8138160" y="500176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65" name="text-277"/>
          <p:cNvSpPr txBox="1"/>
          <p:nvPr/>
        </p:nvSpPr>
        <p:spPr>
          <a:xfrm>
            <a:off x="8138160" y="5001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66" name="box-278"/>
          <p:cNvSpPr/>
          <p:nvPr/>
        </p:nvSpPr>
        <p:spPr>
          <a:xfrm>
            <a:off x="8567928" y="500176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67" name="text-279"/>
          <p:cNvSpPr txBox="1"/>
          <p:nvPr/>
        </p:nvSpPr>
        <p:spPr>
          <a:xfrm>
            <a:off x="8567928" y="5001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68" name="box-280"/>
          <p:cNvSpPr/>
          <p:nvPr/>
        </p:nvSpPr>
        <p:spPr>
          <a:xfrm>
            <a:off x="8997696" y="500176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69" name="text-281"/>
          <p:cNvSpPr txBox="1"/>
          <p:nvPr/>
        </p:nvSpPr>
        <p:spPr>
          <a:xfrm>
            <a:off x="8997696" y="50017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70" name="text-282"/>
          <p:cNvSpPr txBox="1"/>
          <p:nvPr/>
        </p:nvSpPr>
        <p:spPr>
          <a:xfrm>
            <a:off x="6428232" y="54132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    X</a:t>
            </a:r>
            <a:endParaRPr lang="en-US" sz="1300" dirty="0"/>
          </a:p>
        </p:txBody>
      </p:sp>
      <p:sp>
        <p:nvSpPr>
          <p:cNvPr id="71" name="box-283"/>
          <p:cNvSpPr/>
          <p:nvPr/>
        </p:nvSpPr>
        <p:spPr>
          <a:xfrm>
            <a:off x="7708392" y="541324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2" name="text-284"/>
          <p:cNvSpPr txBox="1"/>
          <p:nvPr/>
        </p:nvSpPr>
        <p:spPr>
          <a:xfrm>
            <a:off x="7708392" y="5413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73" name="box-285"/>
          <p:cNvSpPr/>
          <p:nvPr/>
        </p:nvSpPr>
        <p:spPr>
          <a:xfrm>
            <a:off x="8138160" y="541324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4" name="text-286"/>
          <p:cNvSpPr txBox="1"/>
          <p:nvPr/>
        </p:nvSpPr>
        <p:spPr>
          <a:xfrm>
            <a:off x="8138160" y="5413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75" name="box-287"/>
          <p:cNvSpPr/>
          <p:nvPr/>
        </p:nvSpPr>
        <p:spPr>
          <a:xfrm>
            <a:off x="8567928" y="541324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6" name="text-288"/>
          <p:cNvSpPr txBox="1"/>
          <p:nvPr/>
        </p:nvSpPr>
        <p:spPr>
          <a:xfrm>
            <a:off x="8567928" y="5413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77" name="box-289"/>
          <p:cNvSpPr/>
          <p:nvPr/>
        </p:nvSpPr>
        <p:spPr>
          <a:xfrm>
            <a:off x="8997696" y="5413248"/>
            <a:ext cx="384048" cy="347472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8" name="text-290"/>
          <p:cNvSpPr txBox="1"/>
          <p:nvPr/>
        </p:nvSpPr>
        <p:spPr>
          <a:xfrm>
            <a:off x="8997696" y="54132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79" name="text-291"/>
          <p:cNvSpPr txBox="1"/>
          <p:nvPr/>
        </p:nvSpPr>
        <p:spPr>
          <a:xfrm>
            <a:off x="9628632" y="459028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1 differs → XOR = 0010 → mismatch on X1</a:t>
            </a:r>
            <a:endParaRPr lang="en-US" sz="130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92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STAGE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Logic: Detecting a Complete Match</a:t>
            </a:r>
            <a:endParaRPr lang="en-US" sz="3000" dirty="0"/>
          </a:p>
        </p:txBody>
      </p:sp>
      <p:sp>
        <p:nvSpPr>
          <p:cNvPr id="4" name="box-293"/>
          <p:cNvSpPr/>
          <p:nvPr/>
        </p:nvSpPr>
        <p:spPr>
          <a:xfrm>
            <a:off x="548640" y="1371600"/>
            <a:ext cx="40690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text-294"/>
          <p:cNvSpPr txBox="1"/>
          <p:nvPr/>
        </p:nvSpPr>
        <p:spPr>
          <a:xfrm>
            <a:off x="731520" y="1417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 output is 1 only when all of its inputs are 0. So MATCH = 1 only if X3–X0 are all 0.</a:t>
            </a:r>
            <a:endParaRPr lang="en-US" sz="1400" dirty="0"/>
          </a:p>
        </p:txBody>
      </p:sp>
      <p:sp>
        <p:nvSpPr>
          <p:cNvPr id="6" name="box-295"/>
          <p:cNvSpPr/>
          <p:nvPr/>
        </p:nvSpPr>
        <p:spPr>
          <a:xfrm>
            <a:off x="548640" y="2377440"/>
            <a:ext cx="406908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/>
        </p:spPr>
      </p:sp>
      <p:sp>
        <p:nvSpPr>
          <p:cNvPr id="7" name="text-296"/>
          <p:cNvSpPr txBox="1"/>
          <p:nvPr/>
        </p:nvSpPr>
        <p:spPr>
          <a:xfrm>
            <a:off x="731520" y="246888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= NOT(X3 OR X2 OR X1 OR X0)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ACCESS_GRANTED = MATCH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ACCESS_DENIED  = NOT MATCH</a:t>
            </a:r>
            <a:endParaRPr lang="en-US" sz="1300" dirty="0"/>
          </a:p>
        </p:txBody>
      </p:sp>
      <p:graphicFrame>
        <p:nvGraphicFramePr>
          <p:cNvPr id="9" name="NOR 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4069080" cy="1828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NOR 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-297"/>
          <p:cNvSpPr txBox="1"/>
          <p:nvPr/>
        </p:nvSpPr>
        <p:spPr>
          <a:xfrm>
            <a:off x="548640" y="58521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2-input NOR truth table. A 4-input NOR is 1 for only one of 16 input patterns: 0000.</a:t>
            </a:r>
            <a:endParaRPr lang="en-US" sz="1100" dirty="0"/>
          </a:p>
        </p:txBody>
      </p:sp>
      <p:sp>
        <p:nvSpPr>
          <p:cNvPr id="10" name="box-298"/>
          <p:cNvSpPr/>
          <p:nvPr/>
        </p:nvSpPr>
        <p:spPr>
          <a:xfrm>
            <a:off x="4892040" y="1371600"/>
            <a:ext cx="6748272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11" name="text-299"/>
          <p:cNvSpPr txBox="1"/>
          <p:nvPr/>
        </p:nvSpPr>
        <p:spPr>
          <a:xfrm>
            <a:off x="507492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4-INPUT NOR MATCH DETECTOR</a:t>
            </a:r>
            <a:endParaRPr lang="en-US" sz="1200" dirty="0"/>
          </a:p>
        </p:txBody>
      </p:sp>
      <p:sp>
        <p:nvSpPr>
          <p:cNvPr id="12" name="text-300"/>
          <p:cNvSpPr txBox="1"/>
          <p:nvPr/>
        </p:nvSpPr>
        <p:spPr>
          <a:xfrm>
            <a:off x="512064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</a:t>
            </a:r>
            <a:endParaRPr lang="en-US" sz="1300" dirty="0"/>
          </a:p>
        </p:txBody>
      </p:sp>
      <p:sp>
        <p:nvSpPr>
          <p:cNvPr id="13" name="wire-301"/>
          <p:cNvSpPr/>
          <p:nvPr/>
        </p:nvSpPr>
        <p:spPr>
          <a:xfrm>
            <a:off x="5486400" y="2167128"/>
            <a:ext cx="777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4" name="text-302"/>
          <p:cNvSpPr txBox="1"/>
          <p:nvPr/>
        </p:nvSpPr>
        <p:spPr>
          <a:xfrm>
            <a:off x="5120640" y="2322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1300" dirty="0"/>
          </a:p>
        </p:txBody>
      </p:sp>
      <p:sp>
        <p:nvSpPr>
          <p:cNvPr id="15" name="wire-303"/>
          <p:cNvSpPr/>
          <p:nvPr/>
        </p:nvSpPr>
        <p:spPr>
          <a:xfrm>
            <a:off x="5486400" y="2459736"/>
            <a:ext cx="777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6" name="text-304"/>
          <p:cNvSpPr txBox="1"/>
          <p:nvPr/>
        </p:nvSpPr>
        <p:spPr>
          <a:xfrm>
            <a:off x="5120640" y="26151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300" dirty="0"/>
          </a:p>
        </p:txBody>
      </p:sp>
      <p:sp>
        <p:nvSpPr>
          <p:cNvPr id="17" name="wire-305"/>
          <p:cNvSpPr/>
          <p:nvPr/>
        </p:nvSpPr>
        <p:spPr>
          <a:xfrm>
            <a:off x="5486400" y="2752344"/>
            <a:ext cx="777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8" name="text-306"/>
          <p:cNvSpPr txBox="1"/>
          <p:nvPr/>
        </p:nvSpPr>
        <p:spPr>
          <a:xfrm>
            <a:off x="5120640" y="2907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</a:t>
            </a:r>
            <a:endParaRPr lang="en-US" sz="1300" dirty="0"/>
          </a:p>
        </p:txBody>
      </p:sp>
      <p:sp>
        <p:nvSpPr>
          <p:cNvPr id="19" name="wire-307"/>
          <p:cNvSpPr/>
          <p:nvPr/>
        </p:nvSpPr>
        <p:spPr>
          <a:xfrm>
            <a:off x="5486400" y="3044952"/>
            <a:ext cx="777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0" name="NOR gate-308"/>
          <p:cNvSpPr/>
          <p:nvPr/>
        </p:nvSpPr>
        <p:spPr>
          <a:xfrm>
            <a:off x="6035040" y="1874520"/>
            <a:ext cx="1143000" cy="1463040"/>
          </a:xfrm>
          <a:custGeom>
            <a:avLst/>
            <a:gdLst/>
            <a:ahLst/>
            <a:cxnLst/>
            <a:rect l="l" t="t" r="r" b="b"/>
            <a:pathLst>
              <a:path w="1143000" h="1463040">
                <a:moveTo>
                  <a:pt x="0" y="0"/>
                </a:moveTo>
                <a:cubicBezTo>
                  <a:pt x="628650" y="0"/>
                  <a:pt x="1005840" y="263347"/>
                  <a:pt x="1143000" y="731520"/>
                </a:cubicBezTo>
                <a:cubicBezTo>
                  <a:pt x="1005840" y="1199693"/>
                  <a:pt x="628650" y="1463040"/>
                  <a:pt x="0" y="1463040"/>
                </a:cubicBezTo>
                <a:quadBezTo>
                  <a:pt x="342900" y="731520"/>
                  <a:pt x="0" y="0"/>
                </a:quadBez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1" name="inversion bubble-309"/>
          <p:cNvSpPr/>
          <p:nvPr/>
        </p:nvSpPr>
        <p:spPr>
          <a:xfrm>
            <a:off x="7178040" y="2532888"/>
            <a:ext cx="146304" cy="14630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2" name="text-310"/>
          <p:cNvSpPr txBox="1"/>
          <p:nvPr/>
        </p:nvSpPr>
        <p:spPr>
          <a:xfrm>
            <a:off x="6172200" y="2468880"/>
            <a:ext cx="857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endParaRPr lang="en-US" sz="1200" dirty="0"/>
          </a:p>
        </p:txBody>
      </p:sp>
      <p:sp>
        <p:nvSpPr>
          <p:cNvPr id="23" name="wire-311"/>
          <p:cNvSpPr/>
          <p:nvPr/>
        </p:nvSpPr>
        <p:spPr>
          <a:xfrm>
            <a:off x="7324344" y="2606040"/>
            <a:ext cx="1179576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4" name="text-312"/>
          <p:cNvSpPr txBox="1"/>
          <p:nvPr/>
        </p:nvSpPr>
        <p:spPr>
          <a:xfrm>
            <a:off x="7589520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1200" dirty="0"/>
          </a:p>
        </p:txBody>
      </p:sp>
      <p:sp>
        <p:nvSpPr>
          <p:cNvPr id="25" name="node-313"/>
          <p:cNvSpPr/>
          <p:nvPr/>
        </p:nvSpPr>
        <p:spPr>
          <a:xfrm>
            <a:off x="8462772" y="2564892"/>
            <a:ext cx="82296" cy="82296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6" name="wire-314"/>
          <p:cNvSpPr/>
          <p:nvPr/>
        </p:nvSpPr>
        <p:spPr>
          <a:xfrm flipV="1">
            <a:off x="8503920" y="2148840"/>
            <a:ext cx="0" cy="4572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7" name="wire-315"/>
          <p:cNvSpPr/>
          <p:nvPr/>
        </p:nvSpPr>
        <p:spPr>
          <a:xfrm>
            <a:off x="8503920" y="2148840"/>
            <a:ext cx="182880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8" name="wire-316"/>
          <p:cNvSpPr/>
          <p:nvPr/>
        </p:nvSpPr>
        <p:spPr>
          <a:xfrm>
            <a:off x="8503920" y="2606040"/>
            <a:ext cx="0" cy="54864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29" name="wire-317"/>
          <p:cNvSpPr/>
          <p:nvPr/>
        </p:nvSpPr>
        <p:spPr>
          <a:xfrm>
            <a:off x="8503920" y="3154680"/>
            <a:ext cx="4114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30" name="NOT gate-318"/>
          <p:cNvSpPr/>
          <p:nvPr/>
        </p:nvSpPr>
        <p:spPr>
          <a:xfrm>
            <a:off x="8915400" y="29260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2286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1" name="inversion bubble-319"/>
          <p:cNvSpPr/>
          <p:nvPr/>
        </p:nvSpPr>
        <p:spPr>
          <a:xfrm>
            <a:off x="9372600" y="3108960"/>
            <a:ext cx="91440" cy="9144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2" name="wire-320"/>
          <p:cNvSpPr/>
          <p:nvPr/>
        </p:nvSpPr>
        <p:spPr>
          <a:xfrm>
            <a:off x="9464040" y="3154680"/>
            <a:ext cx="8686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33" name="GRANTED LED-321"/>
          <p:cNvSpPr/>
          <p:nvPr/>
        </p:nvSpPr>
        <p:spPr>
          <a:xfrm>
            <a:off x="10332720" y="1965960"/>
            <a:ext cx="365760" cy="365760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4" name="text-322"/>
          <p:cNvSpPr txBox="1"/>
          <p:nvPr/>
        </p:nvSpPr>
        <p:spPr>
          <a:xfrm>
            <a:off x="10771632" y="2011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</a:t>
            </a:r>
            <a:endParaRPr lang="en-US" sz="1200" dirty="0"/>
          </a:p>
        </p:txBody>
      </p:sp>
      <p:sp>
        <p:nvSpPr>
          <p:cNvPr id="35" name="DENIED LED-323"/>
          <p:cNvSpPr/>
          <p:nvPr/>
        </p:nvSpPr>
        <p:spPr>
          <a:xfrm>
            <a:off x="10332720" y="2971800"/>
            <a:ext cx="365760" cy="365760"/>
          </a:xfrm>
          <a:prstGeom prst="ellipse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36" name="text-324"/>
          <p:cNvSpPr txBox="1"/>
          <p:nvPr/>
        </p:nvSpPr>
        <p:spPr>
          <a:xfrm>
            <a:off x="10771632" y="30175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200" dirty="0"/>
          </a:p>
        </p:txBody>
      </p:sp>
      <p:sp>
        <p:nvSpPr>
          <p:cNvPr id="37" name="box-325"/>
          <p:cNvSpPr/>
          <p:nvPr/>
        </p:nvSpPr>
        <p:spPr>
          <a:xfrm>
            <a:off x="4892040" y="3931920"/>
            <a:ext cx="6748272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38" name="text-326"/>
          <p:cNvSpPr txBox="1"/>
          <p:nvPr/>
        </p:nvSpPr>
        <p:spPr>
          <a:xfrm>
            <a:off x="5074920" y="4023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NETWORK USING ONLY 2-INPUT NOR GATES</a:t>
            </a:r>
            <a:endParaRPr lang="en-US" sz="1200" dirty="0"/>
          </a:p>
        </p:txBody>
      </p:sp>
      <p:sp>
        <p:nvSpPr>
          <p:cNvPr id="39" name="text-327"/>
          <p:cNvSpPr txBox="1"/>
          <p:nvPr/>
        </p:nvSpPr>
        <p:spPr>
          <a:xfrm>
            <a:off x="5074920" y="43708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</a:t>
            </a:r>
            <a:endParaRPr lang="en-US" sz="1200" dirty="0"/>
          </a:p>
        </p:txBody>
      </p:sp>
      <p:sp>
        <p:nvSpPr>
          <p:cNvPr id="40" name="wire-328"/>
          <p:cNvSpPr/>
          <p:nvPr/>
        </p:nvSpPr>
        <p:spPr>
          <a:xfrm>
            <a:off x="5440680" y="4489704"/>
            <a:ext cx="5029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1" name="text-329"/>
          <p:cNvSpPr txBox="1"/>
          <p:nvPr/>
        </p:nvSpPr>
        <p:spPr>
          <a:xfrm>
            <a:off x="5074920" y="46268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1200" dirty="0"/>
          </a:p>
        </p:txBody>
      </p:sp>
      <p:sp>
        <p:nvSpPr>
          <p:cNvPr id="42" name="wire-330"/>
          <p:cNvSpPr/>
          <p:nvPr/>
        </p:nvSpPr>
        <p:spPr>
          <a:xfrm>
            <a:off x="5440680" y="4745736"/>
            <a:ext cx="5029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3" name="text-331"/>
          <p:cNvSpPr txBox="1"/>
          <p:nvPr/>
        </p:nvSpPr>
        <p:spPr>
          <a:xfrm>
            <a:off x="5074920" y="53309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200" dirty="0"/>
          </a:p>
        </p:txBody>
      </p:sp>
      <p:sp>
        <p:nvSpPr>
          <p:cNvPr id="44" name="wire-332"/>
          <p:cNvSpPr/>
          <p:nvPr/>
        </p:nvSpPr>
        <p:spPr>
          <a:xfrm>
            <a:off x="5440680" y="5449824"/>
            <a:ext cx="5029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5" name="text-333"/>
          <p:cNvSpPr txBox="1"/>
          <p:nvPr/>
        </p:nvSpPr>
        <p:spPr>
          <a:xfrm>
            <a:off x="5074920" y="558698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</a:t>
            </a:r>
            <a:endParaRPr lang="en-US" sz="1200" dirty="0"/>
          </a:p>
        </p:txBody>
      </p:sp>
      <p:sp>
        <p:nvSpPr>
          <p:cNvPr id="46" name="wire-334"/>
          <p:cNvSpPr/>
          <p:nvPr/>
        </p:nvSpPr>
        <p:spPr>
          <a:xfrm>
            <a:off x="5440680" y="5705856"/>
            <a:ext cx="5029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7" name="NOR gate-335"/>
          <p:cNvSpPr/>
          <p:nvPr/>
        </p:nvSpPr>
        <p:spPr>
          <a:xfrm>
            <a:off x="5806440" y="4361688"/>
            <a:ext cx="658368" cy="512064"/>
          </a:xfrm>
          <a:custGeom>
            <a:avLst/>
            <a:gdLst/>
            <a:ahLst/>
            <a:cxnLst/>
            <a:rect l="l" t="t" r="r" b="b"/>
            <a:pathLst>
              <a:path w="658368" h="512064">
                <a:moveTo>
                  <a:pt x="0" y="0"/>
                </a:moveTo>
                <a:cubicBezTo>
                  <a:pt x="362102" y="0"/>
                  <a:pt x="579364" y="92172"/>
                  <a:pt x="658368" y="256032"/>
                </a:cubicBezTo>
                <a:cubicBezTo>
                  <a:pt x="579364" y="419892"/>
                  <a:pt x="362102" y="512064"/>
                  <a:pt x="0" y="512064"/>
                </a:cubicBezTo>
                <a:quadBezTo>
                  <a:pt x="197510" y="256032"/>
                  <a:pt x="0" y="0"/>
                </a:quad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8" name="inversion bubble-336"/>
          <p:cNvSpPr/>
          <p:nvPr/>
        </p:nvSpPr>
        <p:spPr>
          <a:xfrm>
            <a:off x="6464808" y="4566514"/>
            <a:ext cx="102413" cy="10241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9" name="NOR gate-337"/>
          <p:cNvSpPr/>
          <p:nvPr/>
        </p:nvSpPr>
        <p:spPr>
          <a:xfrm>
            <a:off x="5806440" y="5321808"/>
            <a:ext cx="658368" cy="512064"/>
          </a:xfrm>
          <a:custGeom>
            <a:avLst/>
            <a:gdLst/>
            <a:ahLst/>
            <a:cxnLst/>
            <a:rect l="l" t="t" r="r" b="b"/>
            <a:pathLst>
              <a:path w="658368" h="512064">
                <a:moveTo>
                  <a:pt x="0" y="0"/>
                </a:moveTo>
                <a:cubicBezTo>
                  <a:pt x="362102" y="0"/>
                  <a:pt x="579364" y="92172"/>
                  <a:pt x="658368" y="256032"/>
                </a:cubicBezTo>
                <a:cubicBezTo>
                  <a:pt x="579364" y="419892"/>
                  <a:pt x="362102" y="512064"/>
                  <a:pt x="0" y="512064"/>
                </a:cubicBezTo>
                <a:quadBezTo>
                  <a:pt x="197510" y="256032"/>
                  <a:pt x="0" y="0"/>
                </a:quad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0" name="inversion bubble-338"/>
          <p:cNvSpPr/>
          <p:nvPr/>
        </p:nvSpPr>
        <p:spPr>
          <a:xfrm>
            <a:off x="6464808" y="5526634"/>
            <a:ext cx="102413" cy="10241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1" name="wire-339"/>
          <p:cNvSpPr/>
          <p:nvPr/>
        </p:nvSpPr>
        <p:spPr>
          <a:xfrm>
            <a:off x="6567221" y="4617720"/>
            <a:ext cx="61081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2" name="text-340"/>
          <p:cNvSpPr txBox="1"/>
          <p:nvPr/>
        </p:nvSpPr>
        <p:spPr>
          <a:xfrm>
            <a:off x="6675120" y="43251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</a:t>
            </a:r>
            <a:endParaRPr lang="en-US" sz="1100" dirty="0"/>
          </a:p>
        </p:txBody>
      </p:sp>
      <p:sp>
        <p:nvSpPr>
          <p:cNvPr id="53" name="node-341"/>
          <p:cNvSpPr/>
          <p:nvPr/>
        </p:nvSpPr>
        <p:spPr>
          <a:xfrm>
            <a:off x="7146036" y="4585716"/>
            <a:ext cx="64008" cy="64008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4" name="wire-342"/>
          <p:cNvSpPr/>
          <p:nvPr/>
        </p:nvSpPr>
        <p:spPr>
          <a:xfrm>
            <a:off x="7178040" y="4489704"/>
            <a:ext cx="0" cy="25603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5" name="wire-343"/>
          <p:cNvSpPr/>
          <p:nvPr/>
        </p:nvSpPr>
        <p:spPr>
          <a:xfrm>
            <a:off x="7178040" y="4489704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6" name="wire-344"/>
          <p:cNvSpPr/>
          <p:nvPr/>
        </p:nvSpPr>
        <p:spPr>
          <a:xfrm>
            <a:off x="7178040" y="4745736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7" name="wire-345"/>
          <p:cNvSpPr/>
          <p:nvPr/>
        </p:nvSpPr>
        <p:spPr>
          <a:xfrm>
            <a:off x="6567221" y="5577840"/>
            <a:ext cx="61081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8" name="text-346"/>
          <p:cNvSpPr txBox="1"/>
          <p:nvPr/>
        </p:nvSpPr>
        <p:spPr>
          <a:xfrm>
            <a:off x="6675120" y="52852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N2</a:t>
            </a:r>
            <a:endParaRPr lang="en-US" sz="1100" dirty="0"/>
          </a:p>
        </p:txBody>
      </p:sp>
      <p:sp>
        <p:nvSpPr>
          <p:cNvPr id="59" name="node-347"/>
          <p:cNvSpPr/>
          <p:nvPr/>
        </p:nvSpPr>
        <p:spPr>
          <a:xfrm>
            <a:off x="7146036" y="5545836"/>
            <a:ext cx="64008" cy="64008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0" name="wire-348"/>
          <p:cNvSpPr/>
          <p:nvPr/>
        </p:nvSpPr>
        <p:spPr>
          <a:xfrm>
            <a:off x="7178040" y="5449824"/>
            <a:ext cx="0" cy="25603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1" name="wire-349"/>
          <p:cNvSpPr/>
          <p:nvPr/>
        </p:nvSpPr>
        <p:spPr>
          <a:xfrm>
            <a:off x="7178040" y="5449824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2" name="wire-350"/>
          <p:cNvSpPr/>
          <p:nvPr/>
        </p:nvSpPr>
        <p:spPr>
          <a:xfrm>
            <a:off x="7178040" y="5705856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3" name="NOR gate-351"/>
          <p:cNvSpPr/>
          <p:nvPr/>
        </p:nvSpPr>
        <p:spPr>
          <a:xfrm>
            <a:off x="7315200" y="4361688"/>
            <a:ext cx="658368" cy="512064"/>
          </a:xfrm>
          <a:custGeom>
            <a:avLst/>
            <a:gdLst/>
            <a:ahLst/>
            <a:cxnLst/>
            <a:rect l="l" t="t" r="r" b="b"/>
            <a:pathLst>
              <a:path w="658368" h="512064">
                <a:moveTo>
                  <a:pt x="0" y="0"/>
                </a:moveTo>
                <a:cubicBezTo>
                  <a:pt x="362102" y="0"/>
                  <a:pt x="579364" y="92172"/>
                  <a:pt x="658368" y="256032"/>
                </a:cubicBezTo>
                <a:cubicBezTo>
                  <a:pt x="579364" y="419892"/>
                  <a:pt x="362102" y="512064"/>
                  <a:pt x="0" y="512064"/>
                </a:cubicBezTo>
                <a:quadBezTo>
                  <a:pt x="197510" y="256032"/>
                  <a:pt x="0" y="0"/>
                </a:quad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4" name="inversion bubble-352"/>
          <p:cNvSpPr/>
          <p:nvPr/>
        </p:nvSpPr>
        <p:spPr>
          <a:xfrm>
            <a:off x="7973568" y="4566514"/>
            <a:ext cx="102413" cy="10241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5" name="NOR gate-353"/>
          <p:cNvSpPr/>
          <p:nvPr/>
        </p:nvSpPr>
        <p:spPr>
          <a:xfrm>
            <a:off x="7315200" y="5321808"/>
            <a:ext cx="658368" cy="512064"/>
          </a:xfrm>
          <a:custGeom>
            <a:avLst/>
            <a:gdLst/>
            <a:ahLst/>
            <a:cxnLst/>
            <a:rect l="l" t="t" r="r" b="b"/>
            <a:pathLst>
              <a:path w="658368" h="512064">
                <a:moveTo>
                  <a:pt x="0" y="0"/>
                </a:moveTo>
                <a:cubicBezTo>
                  <a:pt x="362102" y="0"/>
                  <a:pt x="579364" y="92172"/>
                  <a:pt x="658368" y="256032"/>
                </a:cubicBezTo>
                <a:cubicBezTo>
                  <a:pt x="579364" y="419892"/>
                  <a:pt x="362102" y="512064"/>
                  <a:pt x="0" y="512064"/>
                </a:cubicBezTo>
                <a:quadBezTo>
                  <a:pt x="197510" y="256032"/>
                  <a:pt x="0" y="0"/>
                </a:quad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6" name="inversion bubble-354"/>
          <p:cNvSpPr/>
          <p:nvPr/>
        </p:nvSpPr>
        <p:spPr>
          <a:xfrm>
            <a:off x="7973568" y="5526634"/>
            <a:ext cx="102413" cy="10241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7" name="wire-355"/>
          <p:cNvSpPr/>
          <p:nvPr/>
        </p:nvSpPr>
        <p:spPr>
          <a:xfrm>
            <a:off x="8075981" y="4617720"/>
            <a:ext cx="33649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8" name="wire-356"/>
          <p:cNvSpPr/>
          <p:nvPr/>
        </p:nvSpPr>
        <p:spPr>
          <a:xfrm>
            <a:off x="8412480" y="4617720"/>
            <a:ext cx="0" cy="35204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9" name="wire-357"/>
          <p:cNvSpPr/>
          <p:nvPr/>
        </p:nvSpPr>
        <p:spPr>
          <a:xfrm>
            <a:off x="8412480" y="4969764"/>
            <a:ext cx="5029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0" name="wire-358"/>
          <p:cNvSpPr/>
          <p:nvPr/>
        </p:nvSpPr>
        <p:spPr>
          <a:xfrm>
            <a:off x="8075981" y="5577840"/>
            <a:ext cx="33649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1" name="wire-359"/>
          <p:cNvSpPr/>
          <p:nvPr/>
        </p:nvSpPr>
        <p:spPr>
          <a:xfrm flipV="1">
            <a:off x="8412480" y="5225796"/>
            <a:ext cx="0" cy="352044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2" name="wire-360"/>
          <p:cNvSpPr/>
          <p:nvPr/>
        </p:nvSpPr>
        <p:spPr>
          <a:xfrm>
            <a:off x="8412480" y="5225796"/>
            <a:ext cx="5029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3" name="text-361"/>
          <p:cNvSpPr txBox="1"/>
          <p:nvPr/>
        </p:nvSpPr>
        <p:spPr>
          <a:xfrm>
            <a:off x="8119872" y="432511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N3</a:t>
            </a:r>
            <a:endParaRPr lang="en-US" sz="1100" dirty="0"/>
          </a:p>
        </p:txBody>
      </p:sp>
      <p:sp>
        <p:nvSpPr>
          <p:cNvPr id="74" name="text-362"/>
          <p:cNvSpPr txBox="1"/>
          <p:nvPr/>
        </p:nvSpPr>
        <p:spPr>
          <a:xfrm>
            <a:off x="8119872" y="56144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N4</a:t>
            </a:r>
            <a:endParaRPr lang="en-US" sz="1100" dirty="0"/>
          </a:p>
        </p:txBody>
      </p:sp>
      <p:sp>
        <p:nvSpPr>
          <p:cNvPr id="75" name="NOR gate-363"/>
          <p:cNvSpPr/>
          <p:nvPr/>
        </p:nvSpPr>
        <p:spPr>
          <a:xfrm>
            <a:off x="8778240" y="4841748"/>
            <a:ext cx="658368" cy="512064"/>
          </a:xfrm>
          <a:custGeom>
            <a:avLst/>
            <a:gdLst/>
            <a:ahLst/>
            <a:cxnLst/>
            <a:rect l="l" t="t" r="r" b="b"/>
            <a:pathLst>
              <a:path w="658368" h="512064">
                <a:moveTo>
                  <a:pt x="0" y="0"/>
                </a:moveTo>
                <a:cubicBezTo>
                  <a:pt x="362102" y="0"/>
                  <a:pt x="579364" y="92172"/>
                  <a:pt x="658368" y="256032"/>
                </a:cubicBezTo>
                <a:cubicBezTo>
                  <a:pt x="579364" y="419892"/>
                  <a:pt x="362102" y="512064"/>
                  <a:pt x="0" y="512064"/>
                </a:cubicBezTo>
                <a:quadBezTo>
                  <a:pt x="197510" y="256032"/>
                  <a:pt x="0" y="0"/>
                </a:quadBezTo>
                <a:close/>
              </a:path>
            </a:pathLst>
          </a:cu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76" name="inversion bubble-364"/>
          <p:cNvSpPr/>
          <p:nvPr/>
        </p:nvSpPr>
        <p:spPr>
          <a:xfrm>
            <a:off x="9436608" y="5046574"/>
            <a:ext cx="102413" cy="102413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</p:spPr>
      </p:sp>
      <p:sp>
        <p:nvSpPr>
          <p:cNvPr id="77" name="wire-365"/>
          <p:cNvSpPr/>
          <p:nvPr/>
        </p:nvSpPr>
        <p:spPr>
          <a:xfrm>
            <a:off x="9539021" y="5097780"/>
            <a:ext cx="519379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8" name="text-366"/>
          <p:cNvSpPr txBox="1"/>
          <p:nvPr/>
        </p:nvSpPr>
        <p:spPr>
          <a:xfrm>
            <a:off x="10104120" y="49606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1200" dirty="0"/>
          </a:p>
        </p:txBody>
      </p:sp>
      <p:sp>
        <p:nvSpPr>
          <p:cNvPr id="79" name="text-367"/>
          <p:cNvSpPr txBox="1"/>
          <p:nvPr/>
        </p:nvSpPr>
        <p:spPr>
          <a:xfrm>
            <a:off x="9144000" y="422452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N1 = NOR(X3, X2)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N3 = NOR(N1, N1) = X3 + X2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N4 = NOR(N2, N2) = X1 + X0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= NOR(N3, N4)</a:t>
            </a:r>
            <a:endParaRPr lang="en-US" sz="95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68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ANALYSIS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Expression and Logic Simplification</a:t>
            </a:r>
            <a:endParaRPr lang="en-US" sz="3000" dirty="0"/>
          </a:p>
        </p:txBody>
      </p:sp>
      <p:sp>
        <p:nvSpPr>
          <p:cNvPr id="4" name="box-36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/>
        </p:spPr>
      </p:sp>
      <p:sp>
        <p:nvSpPr>
          <p:cNvPr id="5" name="text-370"/>
          <p:cNvSpPr txBox="1"/>
          <p:nvPr/>
        </p:nvSpPr>
        <p:spPr>
          <a:xfrm>
            <a:off x="777240" y="1399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EXPRESSION</a:t>
            </a:r>
            <a:endParaRPr lang="en-US" sz="1100" dirty="0"/>
          </a:p>
        </p:txBody>
      </p:sp>
      <p:sp>
        <p:nvSpPr>
          <p:cNvPr id="6" name="text-371"/>
          <p:cNvSpPr txBox="1"/>
          <p:nvPr/>
        </p:nvSpPr>
        <p:spPr>
          <a:xfrm>
            <a:off x="777240" y="16733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= NOT[(S3 XOR E3) OR (S2 XOR E2) OR (S1 XOR E1) OR (S0 XOR E0)]</a:t>
            </a:r>
            <a:endParaRPr lang="en-US" sz="1600" dirty="0"/>
          </a:p>
        </p:txBody>
      </p:sp>
      <p:sp>
        <p:nvSpPr>
          <p:cNvPr id="7" name="box-372"/>
          <p:cNvSpPr/>
          <p:nvPr/>
        </p:nvSpPr>
        <p:spPr>
          <a:xfrm>
            <a:off x="548640" y="233172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8" name="text-373"/>
          <p:cNvSpPr txBox="1"/>
          <p:nvPr/>
        </p:nvSpPr>
        <p:spPr>
          <a:xfrm>
            <a:off x="777240" y="24048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EXPRESSION</a:t>
            </a:r>
            <a:endParaRPr lang="en-US" sz="1100" dirty="0"/>
          </a:p>
        </p:txBody>
      </p:sp>
      <p:sp>
        <p:nvSpPr>
          <p:cNvPr id="9" name="text-374"/>
          <p:cNvSpPr txBox="1"/>
          <p:nvPr/>
        </p:nvSpPr>
        <p:spPr>
          <a:xfrm>
            <a:off x="777240" y="267919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= (S3 XNOR E3) AND (S2 XNOR E2) AND (S1 XNOR E1) AND (S0 XNOR E0)</a:t>
            </a:r>
            <a:endParaRPr lang="en-US" sz="1600" dirty="0"/>
          </a:p>
        </p:txBody>
      </p:sp>
      <p:sp>
        <p:nvSpPr>
          <p:cNvPr id="10" name="text-375"/>
          <p:cNvSpPr txBox="1"/>
          <p:nvPr/>
        </p:nvSpPr>
        <p:spPr>
          <a:xfrm>
            <a:off x="548640" y="3291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are equal: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Morgan's law gives NOT(A + B + C + D) = A'·B'·C'·D', and NOT(Si XOR Ei) = Si XNOR Ei.</a:t>
            </a:r>
            <a:endParaRPr lang="en-US" sz="1400" dirty="0"/>
          </a:p>
        </p:txBody>
      </p:sp>
      <p:sp>
        <p:nvSpPr>
          <p:cNvPr id="11" name="text-376"/>
          <p:cNvSpPr txBox="1"/>
          <p:nvPr/>
        </p:nvSpPr>
        <p:spPr>
          <a:xfrm>
            <a:off x="548640" y="3794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of simplification and K-maps</a:t>
            </a:r>
            <a:endParaRPr lang="en-US" sz="1600" dirty="0"/>
          </a:p>
        </p:txBody>
      </p:sp>
      <p:sp>
        <p:nvSpPr>
          <p:cNvPr id="12" name="text-377"/>
          <p:cNvSpPr txBox="1"/>
          <p:nvPr/>
        </p:nvSpPr>
        <p:spPr>
          <a:xfrm>
            <a:off x="548640" y="416052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cuts gate count, wiring and delay without changing the output.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Karnaugh map groups adjacent 1s to find the minimal sum-of-products form.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comparator has 8 inputs (256 rows), so one 4-variable K-map cannot represent it.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K-maps here cover two valid sub-functions of the design.</a:t>
            </a:r>
            <a:endParaRPr lang="en-US" sz="1300" dirty="0"/>
          </a:p>
        </p:txBody>
      </p:sp>
      <p:sp>
        <p:nvSpPr>
          <p:cNvPr id="13" name="text-378"/>
          <p:cNvSpPr txBox="1"/>
          <p:nvPr/>
        </p:nvSpPr>
        <p:spPr>
          <a:xfrm>
            <a:off x="512064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K-map: MATCH(X3, X2, X1, X0)</a:t>
            </a:r>
            <a:endParaRPr lang="en-US" sz="1400" dirty="0"/>
          </a:p>
        </p:txBody>
      </p:sp>
      <p:graphicFrame>
        <p:nvGraphicFramePr>
          <p:cNvPr id="14" name="4-variable K-map of MAT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4160520"/>
          <a:ext cx="3291840" cy="1371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X3X2 \ X1X0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-379"/>
          <p:cNvSpPr txBox="1"/>
          <p:nvPr/>
        </p:nvSpPr>
        <p:spPr>
          <a:xfrm>
            <a:off x="5120640" y="56235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1 at 0000 → MATCH = X3'·X2'·X1'·X0' (a 4-input NOR).</a:t>
            </a:r>
            <a:endParaRPr lang="en-US" sz="1200" dirty="0"/>
          </a:p>
        </p:txBody>
      </p:sp>
      <p:sp>
        <p:nvSpPr>
          <p:cNvPr id="16" name="text-380"/>
          <p:cNvSpPr txBox="1"/>
          <p:nvPr/>
        </p:nvSpPr>
        <p:spPr>
          <a:xfrm>
            <a:off x="8869680" y="379476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K-map: bit-slice Mi(Si, Ei)</a:t>
            </a:r>
            <a:endParaRPr lang="en-US" sz="1400" dirty="0"/>
          </a:p>
        </p:txBody>
      </p:sp>
      <p:graphicFrame>
        <p:nvGraphicFramePr>
          <p:cNvPr id="19" name="2-variable K-map of bit mat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69680" y="4160520"/>
          <a:ext cx="2194560" cy="115214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 \ Ei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B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-381"/>
          <p:cNvSpPr txBox="1"/>
          <p:nvPr/>
        </p:nvSpPr>
        <p:spPr>
          <a:xfrm>
            <a:off x="8869680" y="539496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1s cannot be grouped → Mi = Si'Ei' + SiEi = Si XNOR Ei.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82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Table and Test Cases</a:t>
            </a:r>
            <a:endParaRPr lang="en-US" sz="3000" dirty="0"/>
          </a:p>
        </p:txBody>
      </p:sp>
      <p:graphicFrame>
        <p:nvGraphicFramePr>
          <p:cNvPr id="11" name="Verification 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Stored 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Entered 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XOR Outputs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DENIED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DENIED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DENIED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DENIED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-383"/>
          <p:cNvSpPr txBox="1"/>
          <p:nvPr/>
        </p:nvSpPr>
        <p:spPr>
          <a:xfrm>
            <a:off x="54864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order is b3 b2 b1 b0 (MSB → LSB). XOR outputs are listed as X3 X2 X1 X0.</a:t>
            </a:r>
            <a:endParaRPr lang="en-US" sz="1200" dirty="0"/>
          </a:p>
        </p:txBody>
      </p:sp>
      <p:sp>
        <p:nvSpPr>
          <p:cNvPr id="6" name="box-384"/>
          <p:cNvSpPr/>
          <p:nvPr/>
        </p:nvSpPr>
        <p:spPr>
          <a:xfrm>
            <a:off x="8229600" y="1417320"/>
            <a:ext cx="3410712" cy="2011680"/>
          </a:xfrm>
          <a:prstGeom prst="roundRect">
            <a:avLst>
              <a:gd name="adj" fmla="val 4545"/>
            </a:avLst>
          </a:prstGeom>
          <a:solidFill>
            <a:schemeClr val="accent4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pic>
        <p:nvPicPr>
          <p:cNvPr id="7" name="callout icon-38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45920"/>
            <a:ext cx="365760" cy="365760"/>
          </a:xfrm>
          <a:prstGeom prst="rect">
            <a:avLst/>
          </a:prstGeom>
        </p:spPr>
      </p:pic>
      <p:sp>
        <p:nvSpPr>
          <p:cNvPr id="8" name="text-386"/>
          <p:cNvSpPr txBox="1"/>
          <p:nvPr/>
        </p:nvSpPr>
        <p:spPr>
          <a:xfrm>
            <a:off x="8961120" y="1618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granted</a:t>
            </a:r>
            <a:endParaRPr lang="en-US" sz="1700" dirty="0"/>
          </a:p>
        </p:txBody>
      </p:sp>
      <p:sp>
        <p:nvSpPr>
          <p:cNvPr id="9" name="text-387"/>
          <p:cNvSpPr txBox="1"/>
          <p:nvPr/>
        </p:nvSpPr>
        <p:spPr>
          <a:xfrm>
            <a:off x="8458200" y="2194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XOR outputs are 0000 → the NOR output is 1 → MATCH = 1 → access is granted.</a:t>
            </a:r>
            <a:endParaRPr lang="en-US" sz="1400" dirty="0"/>
          </a:p>
        </p:txBody>
      </p:sp>
      <p:sp>
        <p:nvSpPr>
          <p:cNvPr id="10" name="box-388"/>
          <p:cNvSpPr/>
          <p:nvPr/>
        </p:nvSpPr>
        <p:spPr>
          <a:xfrm>
            <a:off x="8229600" y="3611880"/>
            <a:ext cx="3410712" cy="2011680"/>
          </a:xfrm>
          <a:prstGeom prst="roundRect">
            <a:avLst>
              <a:gd name="adj" fmla="val 4545"/>
            </a:avLst>
          </a:prstGeom>
          <a:solidFill>
            <a:schemeClr val="accent5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pic>
        <p:nvPicPr>
          <p:cNvPr id="4" name="callout icon-38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840480"/>
            <a:ext cx="365760" cy="365760"/>
          </a:xfrm>
          <a:prstGeom prst="rect">
            <a:avLst/>
          </a:prstGeom>
        </p:spPr>
      </p:pic>
      <p:sp>
        <p:nvSpPr>
          <p:cNvPr id="12" name="text-390"/>
          <p:cNvSpPr txBox="1"/>
          <p:nvPr/>
        </p:nvSpPr>
        <p:spPr>
          <a:xfrm>
            <a:off x="8961120" y="3813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denied</a:t>
            </a:r>
            <a:endParaRPr lang="en-US" sz="1700" dirty="0"/>
          </a:p>
        </p:txBody>
      </p:sp>
      <p:sp>
        <p:nvSpPr>
          <p:cNvPr id="13" name="text-391"/>
          <p:cNvSpPr txBox="1"/>
          <p:nvPr/>
        </p:nvSpPr>
        <p:spPr>
          <a:xfrm>
            <a:off x="8458200" y="4389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XOR output is 1 (a mismatch) → the NOR output is 0 → MATCH = 0 → access is denied.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92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IMPLEMENTATION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Logisim Circuit Diagram</a:t>
            </a:r>
            <a:endParaRPr lang="en-US" sz="3000" dirty="0"/>
          </a:p>
        </p:txBody>
      </p:sp>
      <p:sp>
        <p:nvSpPr>
          <p:cNvPr id="4" name="box-393"/>
          <p:cNvSpPr/>
          <p:nvPr/>
        </p:nvSpPr>
        <p:spPr>
          <a:xfrm>
            <a:off x="548640" y="1371600"/>
            <a:ext cx="5669280" cy="4892040"/>
          </a:xfrm>
          <a:prstGeom prst="roundRect">
            <a:avLst>
              <a:gd name="adj" fmla="val 1869"/>
            </a:avLst>
          </a:prstGeom>
          <a:solidFill>
            <a:srgbClr val="F7FAFD"/>
          </a:solidFill>
          <a:ln w="12700">
            <a:solidFill>
              <a:srgbClr val="C9D6E6"/>
            </a:solidFill>
            <a:prstDash val="solid"/>
          </a:ln>
        </p:spPr>
      </p:sp>
      <p:sp>
        <p:nvSpPr>
          <p:cNvPr id="5" name="text-394"/>
          <p:cNvSpPr txBox="1"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GATE-LEVEL CIRCUIT</a:t>
            </a:r>
            <a:endParaRPr lang="en-US" sz="1200" dirty="0"/>
          </a:p>
        </p:txBody>
      </p:sp>
      <p:sp>
        <p:nvSpPr>
          <p:cNvPr id="6" name="input pin S3-395"/>
          <p:cNvSpPr/>
          <p:nvPr/>
        </p:nvSpPr>
        <p:spPr>
          <a:xfrm>
            <a:off x="731520" y="1920240"/>
            <a:ext cx="438912" cy="2743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text-396"/>
          <p:cNvSpPr txBox="1"/>
          <p:nvPr/>
        </p:nvSpPr>
        <p:spPr>
          <a:xfrm>
            <a:off x="731520" y="19202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100" dirty="0"/>
          </a:p>
        </p:txBody>
      </p:sp>
      <p:sp>
        <p:nvSpPr>
          <p:cNvPr id="8" name="wire-397"/>
          <p:cNvSpPr/>
          <p:nvPr/>
        </p:nvSpPr>
        <p:spPr>
          <a:xfrm>
            <a:off x="1170432" y="2057400"/>
            <a:ext cx="56692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9" name="input pin E3-398"/>
          <p:cNvSpPr/>
          <p:nvPr/>
        </p:nvSpPr>
        <p:spPr>
          <a:xfrm>
            <a:off x="731520" y="2286000"/>
            <a:ext cx="438912" cy="2743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0" name="text-399"/>
          <p:cNvSpPr txBox="1"/>
          <p:nvPr/>
        </p:nvSpPr>
        <p:spPr>
          <a:xfrm>
            <a:off x="731520" y="228600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</a:t>
            </a:r>
            <a:endParaRPr lang="en-US" sz="1100" dirty="0"/>
          </a:p>
        </p:txBody>
      </p:sp>
      <p:sp>
        <p:nvSpPr>
          <p:cNvPr id="11" name="wire-400"/>
          <p:cNvSpPr/>
          <p:nvPr/>
        </p:nvSpPr>
        <p:spPr>
          <a:xfrm>
            <a:off x="1170432" y="2423160"/>
            <a:ext cx="5669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2" name="XOR input arc-401"/>
          <p:cNvSpPr/>
          <p:nvPr/>
        </p:nvSpPr>
        <p:spPr>
          <a:xfrm>
            <a:off x="1558138" y="187452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quadBezTo>
                  <a:pt x="219456" y="365760"/>
                  <a:pt x="0" y="731520"/>
                </a:quadBezTo>
              </a:path>
            </a:pathLst>
          </a:cu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13" name="XOR gate-402"/>
          <p:cNvSpPr/>
          <p:nvPr/>
        </p:nvSpPr>
        <p:spPr>
          <a:xfrm>
            <a:off x="1645920" y="187452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cubicBezTo>
                  <a:pt x="402336" y="0"/>
                  <a:pt x="643738" y="131674"/>
                  <a:pt x="731520" y="365760"/>
                </a:cubicBezTo>
                <a:cubicBezTo>
                  <a:pt x="643738" y="599846"/>
                  <a:pt x="402336" y="731520"/>
                  <a:pt x="0" y="731520"/>
                </a:cubicBezTo>
                <a:quadBezTo>
                  <a:pt x="219456" y="365760"/>
                  <a:pt x="0" y="0"/>
                </a:quadBezTo>
                <a:close/>
              </a:path>
            </a:pathLst>
          </a:cu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14" name="text-403"/>
          <p:cNvSpPr txBox="1"/>
          <p:nvPr/>
        </p:nvSpPr>
        <p:spPr>
          <a:xfrm>
            <a:off x="1733702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900" dirty="0"/>
          </a:p>
        </p:txBody>
      </p:sp>
      <p:sp>
        <p:nvSpPr>
          <p:cNvPr id="15" name="wire-404"/>
          <p:cNvSpPr/>
          <p:nvPr/>
        </p:nvSpPr>
        <p:spPr>
          <a:xfrm>
            <a:off x="2377440" y="2240280"/>
            <a:ext cx="4114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6" name="wire-405"/>
          <p:cNvSpPr/>
          <p:nvPr/>
        </p:nvSpPr>
        <p:spPr>
          <a:xfrm>
            <a:off x="2788920" y="2240280"/>
            <a:ext cx="0" cy="10241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7" name="wire-406"/>
          <p:cNvSpPr/>
          <p:nvPr/>
        </p:nvSpPr>
        <p:spPr>
          <a:xfrm>
            <a:off x="2788920" y="3264408"/>
            <a:ext cx="6400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18" name="text-407"/>
          <p:cNvSpPr txBox="1"/>
          <p:nvPr/>
        </p:nvSpPr>
        <p:spPr>
          <a:xfrm>
            <a:off x="2395728" y="196596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</a:t>
            </a:r>
            <a:endParaRPr lang="en-US" sz="1100" dirty="0"/>
          </a:p>
        </p:txBody>
      </p:sp>
      <p:sp>
        <p:nvSpPr>
          <p:cNvPr id="19" name="input pin S2-408"/>
          <p:cNvSpPr/>
          <p:nvPr/>
        </p:nvSpPr>
        <p:spPr>
          <a:xfrm>
            <a:off x="731520" y="2971800"/>
            <a:ext cx="438912" cy="2743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0" name="text-409"/>
          <p:cNvSpPr txBox="1"/>
          <p:nvPr/>
        </p:nvSpPr>
        <p:spPr>
          <a:xfrm>
            <a:off x="731520" y="297180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100" dirty="0"/>
          </a:p>
        </p:txBody>
      </p:sp>
      <p:sp>
        <p:nvSpPr>
          <p:cNvPr id="21" name="wire-410"/>
          <p:cNvSpPr/>
          <p:nvPr/>
        </p:nvSpPr>
        <p:spPr>
          <a:xfrm>
            <a:off x="1170432" y="3108960"/>
            <a:ext cx="56692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22" name="input pin E2-411"/>
          <p:cNvSpPr/>
          <p:nvPr/>
        </p:nvSpPr>
        <p:spPr>
          <a:xfrm>
            <a:off x="731520" y="3337560"/>
            <a:ext cx="438912" cy="2743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23" name="text-412"/>
          <p:cNvSpPr txBox="1"/>
          <p:nvPr/>
        </p:nvSpPr>
        <p:spPr>
          <a:xfrm>
            <a:off x="731520" y="33375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</a:t>
            </a:r>
            <a:endParaRPr lang="en-US" sz="1100" dirty="0"/>
          </a:p>
        </p:txBody>
      </p:sp>
      <p:sp>
        <p:nvSpPr>
          <p:cNvPr id="24" name="wire-413"/>
          <p:cNvSpPr/>
          <p:nvPr/>
        </p:nvSpPr>
        <p:spPr>
          <a:xfrm>
            <a:off x="1170432" y="3474720"/>
            <a:ext cx="5669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5" name="XOR input arc-414"/>
          <p:cNvSpPr/>
          <p:nvPr/>
        </p:nvSpPr>
        <p:spPr>
          <a:xfrm>
            <a:off x="1558138" y="292608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quadBezTo>
                  <a:pt x="219456" y="365760"/>
                  <a:pt x="0" y="731520"/>
                </a:quadBezTo>
              </a:path>
            </a:pathLst>
          </a:cu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6" name="XOR gate-415"/>
          <p:cNvSpPr/>
          <p:nvPr/>
        </p:nvSpPr>
        <p:spPr>
          <a:xfrm>
            <a:off x="1645920" y="292608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cubicBezTo>
                  <a:pt x="402336" y="0"/>
                  <a:pt x="643738" y="131674"/>
                  <a:pt x="731520" y="365760"/>
                </a:cubicBezTo>
                <a:cubicBezTo>
                  <a:pt x="643738" y="599846"/>
                  <a:pt x="402336" y="731520"/>
                  <a:pt x="0" y="731520"/>
                </a:cubicBezTo>
                <a:quadBezTo>
                  <a:pt x="219456" y="365760"/>
                  <a:pt x="0" y="0"/>
                </a:quadBezTo>
                <a:close/>
              </a:path>
            </a:pathLst>
          </a:cu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27" name="text-416"/>
          <p:cNvSpPr txBox="1"/>
          <p:nvPr/>
        </p:nvSpPr>
        <p:spPr>
          <a:xfrm>
            <a:off x="1733702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900" dirty="0"/>
          </a:p>
        </p:txBody>
      </p:sp>
      <p:sp>
        <p:nvSpPr>
          <p:cNvPr id="28" name="wire-417"/>
          <p:cNvSpPr/>
          <p:nvPr/>
        </p:nvSpPr>
        <p:spPr>
          <a:xfrm>
            <a:off x="2377440" y="3291840"/>
            <a:ext cx="5486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9" name="wire-418"/>
          <p:cNvSpPr/>
          <p:nvPr/>
        </p:nvSpPr>
        <p:spPr>
          <a:xfrm>
            <a:off x="2926080" y="3291840"/>
            <a:ext cx="0" cy="356616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0" name="wire-419"/>
          <p:cNvSpPr/>
          <p:nvPr/>
        </p:nvSpPr>
        <p:spPr>
          <a:xfrm>
            <a:off x="2926080" y="3648456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31" name="text-420"/>
          <p:cNvSpPr txBox="1"/>
          <p:nvPr/>
        </p:nvSpPr>
        <p:spPr>
          <a:xfrm>
            <a:off x="2395728" y="30175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1100" dirty="0"/>
          </a:p>
        </p:txBody>
      </p:sp>
      <p:sp>
        <p:nvSpPr>
          <p:cNvPr id="32" name="input pin S1-421"/>
          <p:cNvSpPr/>
          <p:nvPr/>
        </p:nvSpPr>
        <p:spPr>
          <a:xfrm>
            <a:off x="731520" y="4023360"/>
            <a:ext cx="438912" cy="2743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3" name="text-422"/>
          <p:cNvSpPr txBox="1"/>
          <p:nvPr/>
        </p:nvSpPr>
        <p:spPr>
          <a:xfrm>
            <a:off x="731520" y="402336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100" dirty="0"/>
          </a:p>
        </p:txBody>
      </p:sp>
      <p:sp>
        <p:nvSpPr>
          <p:cNvPr id="34" name="wire-423"/>
          <p:cNvSpPr/>
          <p:nvPr/>
        </p:nvSpPr>
        <p:spPr>
          <a:xfrm>
            <a:off x="1170432" y="4160520"/>
            <a:ext cx="56692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35" name="input pin E1-424"/>
          <p:cNvSpPr/>
          <p:nvPr/>
        </p:nvSpPr>
        <p:spPr>
          <a:xfrm>
            <a:off x="731520" y="4389120"/>
            <a:ext cx="438912" cy="2743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36" name="text-425"/>
          <p:cNvSpPr txBox="1"/>
          <p:nvPr/>
        </p:nvSpPr>
        <p:spPr>
          <a:xfrm>
            <a:off x="731520" y="43891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</a:t>
            </a:r>
            <a:endParaRPr lang="en-US" sz="1100" dirty="0"/>
          </a:p>
        </p:txBody>
      </p:sp>
      <p:sp>
        <p:nvSpPr>
          <p:cNvPr id="37" name="wire-426"/>
          <p:cNvSpPr/>
          <p:nvPr/>
        </p:nvSpPr>
        <p:spPr>
          <a:xfrm>
            <a:off x="1170432" y="4526280"/>
            <a:ext cx="5669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38" name="XOR input arc-427"/>
          <p:cNvSpPr/>
          <p:nvPr/>
        </p:nvSpPr>
        <p:spPr>
          <a:xfrm>
            <a:off x="1558138" y="397764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quadBezTo>
                  <a:pt x="219456" y="365760"/>
                  <a:pt x="0" y="731520"/>
                </a:quadBezTo>
              </a:path>
            </a:pathLst>
          </a:cu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39" name="XOR gate-428"/>
          <p:cNvSpPr/>
          <p:nvPr/>
        </p:nvSpPr>
        <p:spPr>
          <a:xfrm>
            <a:off x="1645920" y="397764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cubicBezTo>
                  <a:pt x="402336" y="0"/>
                  <a:pt x="643738" y="131674"/>
                  <a:pt x="731520" y="365760"/>
                </a:cubicBezTo>
                <a:cubicBezTo>
                  <a:pt x="643738" y="599846"/>
                  <a:pt x="402336" y="731520"/>
                  <a:pt x="0" y="731520"/>
                </a:cubicBezTo>
                <a:quadBezTo>
                  <a:pt x="219456" y="365760"/>
                  <a:pt x="0" y="0"/>
                </a:quadBezTo>
                <a:close/>
              </a:path>
            </a:pathLst>
          </a:cu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40" name="text-429"/>
          <p:cNvSpPr txBox="1"/>
          <p:nvPr/>
        </p:nvSpPr>
        <p:spPr>
          <a:xfrm>
            <a:off x="1733702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900" dirty="0"/>
          </a:p>
        </p:txBody>
      </p:sp>
      <p:sp>
        <p:nvSpPr>
          <p:cNvPr id="41" name="wire-430"/>
          <p:cNvSpPr/>
          <p:nvPr/>
        </p:nvSpPr>
        <p:spPr>
          <a:xfrm>
            <a:off x="2377440" y="4343400"/>
            <a:ext cx="5486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2" name="wire-431"/>
          <p:cNvSpPr/>
          <p:nvPr/>
        </p:nvSpPr>
        <p:spPr>
          <a:xfrm flipV="1">
            <a:off x="2926080" y="4032504"/>
            <a:ext cx="0" cy="310896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3" name="wire-432"/>
          <p:cNvSpPr/>
          <p:nvPr/>
        </p:nvSpPr>
        <p:spPr>
          <a:xfrm>
            <a:off x="2926080" y="4032504"/>
            <a:ext cx="5029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44" name="text-433"/>
          <p:cNvSpPr txBox="1"/>
          <p:nvPr/>
        </p:nvSpPr>
        <p:spPr>
          <a:xfrm>
            <a:off x="2395728" y="40690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1100" dirty="0"/>
          </a:p>
        </p:txBody>
      </p:sp>
      <p:sp>
        <p:nvSpPr>
          <p:cNvPr id="45" name="input pin S0-434"/>
          <p:cNvSpPr/>
          <p:nvPr/>
        </p:nvSpPr>
        <p:spPr>
          <a:xfrm>
            <a:off x="731520" y="5074920"/>
            <a:ext cx="438912" cy="2743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6" name="text-435"/>
          <p:cNvSpPr txBox="1"/>
          <p:nvPr/>
        </p:nvSpPr>
        <p:spPr>
          <a:xfrm>
            <a:off x="731520" y="50749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</a:t>
            </a:r>
            <a:endParaRPr lang="en-US" sz="1100" dirty="0"/>
          </a:p>
        </p:txBody>
      </p:sp>
      <p:sp>
        <p:nvSpPr>
          <p:cNvPr id="47" name="wire-436"/>
          <p:cNvSpPr/>
          <p:nvPr/>
        </p:nvSpPr>
        <p:spPr>
          <a:xfrm>
            <a:off x="1170432" y="5212080"/>
            <a:ext cx="56692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48" name="input pin E0-437"/>
          <p:cNvSpPr/>
          <p:nvPr/>
        </p:nvSpPr>
        <p:spPr>
          <a:xfrm>
            <a:off x="731520" y="5440680"/>
            <a:ext cx="438912" cy="2743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49" name="text-438"/>
          <p:cNvSpPr txBox="1"/>
          <p:nvPr/>
        </p:nvSpPr>
        <p:spPr>
          <a:xfrm>
            <a:off x="731520" y="54406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E0</a:t>
            </a:r>
            <a:endParaRPr lang="en-US" sz="1100" dirty="0"/>
          </a:p>
        </p:txBody>
      </p:sp>
      <p:sp>
        <p:nvSpPr>
          <p:cNvPr id="50" name="wire-439"/>
          <p:cNvSpPr/>
          <p:nvPr/>
        </p:nvSpPr>
        <p:spPr>
          <a:xfrm>
            <a:off x="1170432" y="5577840"/>
            <a:ext cx="56692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51" name="XOR input arc-440"/>
          <p:cNvSpPr/>
          <p:nvPr/>
        </p:nvSpPr>
        <p:spPr>
          <a:xfrm>
            <a:off x="1558138" y="502920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quadBezTo>
                  <a:pt x="219456" y="365760"/>
                  <a:pt x="0" y="731520"/>
                </a:quadBezTo>
              </a:path>
            </a:pathLst>
          </a:cu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52" name="XOR gate-441"/>
          <p:cNvSpPr/>
          <p:nvPr/>
        </p:nvSpPr>
        <p:spPr>
          <a:xfrm>
            <a:off x="1645920" y="502920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cubicBezTo>
                  <a:pt x="402336" y="0"/>
                  <a:pt x="643738" y="131674"/>
                  <a:pt x="731520" y="365760"/>
                </a:cubicBezTo>
                <a:cubicBezTo>
                  <a:pt x="643738" y="599846"/>
                  <a:pt x="402336" y="731520"/>
                  <a:pt x="0" y="731520"/>
                </a:cubicBezTo>
                <a:quadBezTo>
                  <a:pt x="219456" y="365760"/>
                  <a:pt x="0" y="0"/>
                </a:quadBezTo>
                <a:close/>
              </a:path>
            </a:pathLst>
          </a:cu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53" name="text-442"/>
          <p:cNvSpPr txBox="1"/>
          <p:nvPr/>
        </p:nvSpPr>
        <p:spPr>
          <a:xfrm>
            <a:off x="1733702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900" dirty="0"/>
          </a:p>
        </p:txBody>
      </p:sp>
      <p:sp>
        <p:nvSpPr>
          <p:cNvPr id="54" name="wire-443"/>
          <p:cNvSpPr/>
          <p:nvPr/>
        </p:nvSpPr>
        <p:spPr>
          <a:xfrm>
            <a:off x="2377440" y="5394960"/>
            <a:ext cx="4114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55" name="wire-444"/>
          <p:cNvSpPr/>
          <p:nvPr/>
        </p:nvSpPr>
        <p:spPr>
          <a:xfrm flipV="1">
            <a:off x="2788920" y="4416552"/>
            <a:ext cx="0" cy="97840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56" name="wire-445"/>
          <p:cNvSpPr/>
          <p:nvPr/>
        </p:nvSpPr>
        <p:spPr>
          <a:xfrm>
            <a:off x="2788920" y="4416552"/>
            <a:ext cx="64008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57" name="text-446"/>
          <p:cNvSpPr txBox="1"/>
          <p:nvPr/>
        </p:nvSpPr>
        <p:spPr>
          <a:xfrm>
            <a:off x="2395728" y="512064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07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</a:t>
            </a:r>
            <a:endParaRPr lang="en-US" sz="1100" dirty="0"/>
          </a:p>
        </p:txBody>
      </p:sp>
      <p:sp>
        <p:nvSpPr>
          <p:cNvPr id="58" name="NOR gate-447"/>
          <p:cNvSpPr/>
          <p:nvPr/>
        </p:nvSpPr>
        <p:spPr>
          <a:xfrm>
            <a:off x="3246120" y="2880360"/>
            <a:ext cx="914400" cy="1920240"/>
          </a:xfrm>
          <a:custGeom>
            <a:avLst/>
            <a:gdLst/>
            <a:ahLst/>
            <a:cxnLst/>
            <a:rect l="l" t="t" r="r" b="b"/>
            <a:pathLst>
              <a:path w="914400" h="1920240">
                <a:moveTo>
                  <a:pt x="0" y="0"/>
                </a:moveTo>
                <a:cubicBezTo>
                  <a:pt x="502920" y="0"/>
                  <a:pt x="804672" y="345643"/>
                  <a:pt x="914400" y="960120"/>
                </a:cubicBezTo>
                <a:cubicBezTo>
                  <a:pt x="804672" y="1574597"/>
                  <a:pt x="502920" y="1920240"/>
                  <a:pt x="0" y="1920240"/>
                </a:cubicBezTo>
                <a:quadBezTo>
                  <a:pt x="274320" y="960120"/>
                  <a:pt x="0" y="0"/>
                </a:quadBez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9" name="inversion bubble-448"/>
          <p:cNvSpPr/>
          <p:nvPr/>
        </p:nvSpPr>
        <p:spPr>
          <a:xfrm>
            <a:off x="4160520" y="3767328"/>
            <a:ext cx="146304" cy="14630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0" name="text-449"/>
          <p:cNvSpPr txBox="1"/>
          <p:nvPr/>
        </p:nvSpPr>
        <p:spPr>
          <a:xfrm>
            <a:off x="3355848" y="3703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endParaRPr lang="en-US" sz="1200" dirty="0"/>
          </a:p>
        </p:txBody>
      </p:sp>
      <p:sp>
        <p:nvSpPr>
          <p:cNvPr id="61" name="wire-450"/>
          <p:cNvSpPr/>
          <p:nvPr/>
        </p:nvSpPr>
        <p:spPr>
          <a:xfrm>
            <a:off x="4306824" y="3840480"/>
            <a:ext cx="448056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62" name="text-451"/>
          <p:cNvSpPr txBox="1"/>
          <p:nvPr/>
        </p:nvSpPr>
        <p:spPr>
          <a:xfrm>
            <a:off x="4325112" y="35478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1100" dirty="0"/>
          </a:p>
        </p:txBody>
      </p:sp>
      <p:sp>
        <p:nvSpPr>
          <p:cNvPr id="63" name="node-452"/>
          <p:cNvSpPr/>
          <p:nvPr/>
        </p:nvSpPr>
        <p:spPr>
          <a:xfrm>
            <a:off x="4713732" y="3799332"/>
            <a:ext cx="82296" cy="82296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64" name="wire-453"/>
          <p:cNvSpPr/>
          <p:nvPr/>
        </p:nvSpPr>
        <p:spPr>
          <a:xfrm flipV="1">
            <a:off x="4754880" y="2926080"/>
            <a:ext cx="0" cy="9144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65" name="wire-454"/>
          <p:cNvSpPr/>
          <p:nvPr/>
        </p:nvSpPr>
        <p:spPr>
          <a:xfrm>
            <a:off x="4754880" y="2926080"/>
            <a:ext cx="77724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66" name="wire-455"/>
          <p:cNvSpPr/>
          <p:nvPr/>
        </p:nvSpPr>
        <p:spPr>
          <a:xfrm>
            <a:off x="4754880" y="3840480"/>
            <a:ext cx="0" cy="91440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67" name="wire-456"/>
          <p:cNvSpPr/>
          <p:nvPr/>
        </p:nvSpPr>
        <p:spPr>
          <a:xfrm>
            <a:off x="4754880" y="4754880"/>
            <a:ext cx="13716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68" name="NOT gate-457"/>
          <p:cNvSpPr/>
          <p:nvPr/>
        </p:nvSpPr>
        <p:spPr>
          <a:xfrm>
            <a:off x="4892040" y="4553712"/>
            <a:ext cx="402336" cy="402336"/>
          </a:xfrm>
          <a:custGeom>
            <a:avLst/>
            <a:gdLst/>
            <a:ahLst/>
            <a:cxnLst/>
            <a:rect l="l" t="t" r="r" b="b"/>
            <a:pathLst>
              <a:path w="402336" h="402336">
                <a:moveTo>
                  <a:pt x="0" y="0"/>
                </a:moveTo>
                <a:lnTo>
                  <a:pt x="402336" y="201168"/>
                </a:lnTo>
                <a:lnTo>
                  <a:pt x="0" y="402336"/>
                </a:lnTo>
                <a:close/>
              </a:path>
            </a:pathLst>
          </a:cu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69" name="inversion bubble-458"/>
          <p:cNvSpPr/>
          <p:nvPr/>
        </p:nvSpPr>
        <p:spPr>
          <a:xfrm>
            <a:off x="5294376" y="4714646"/>
            <a:ext cx="80467" cy="80467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70" name="wire-459"/>
          <p:cNvSpPr/>
          <p:nvPr/>
        </p:nvSpPr>
        <p:spPr>
          <a:xfrm>
            <a:off x="5374843" y="4754880"/>
            <a:ext cx="157277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71" name="LED-460"/>
          <p:cNvSpPr/>
          <p:nvPr/>
        </p:nvSpPr>
        <p:spPr>
          <a:xfrm>
            <a:off x="5532120" y="2743200"/>
            <a:ext cx="365760" cy="365760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2" name="text-461"/>
          <p:cNvSpPr txBox="1"/>
          <p:nvPr/>
        </p:nvSpPr>
        <p:spPr>
          <a:xfrm>
            <a:off x="5212080" y="31546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</a:t>
            </a:r>
            <a:endParaRPr lang="en-US" sz="900" dirty="0"/>
          </a:p>
        </p:txBody>
      </p:sp>
      <p:sp>
        <p:nvSpPr>
          <p:cNvPr id="73" name="LED-462"/>
          <p:cNvSpPr/>
          <p:nvPr/>
        </p:nvSpPr>
        <p:spPr>
          <a:xfrm>
            <a:off x="5532120" y="4572000"/>
            <a:ext cx="365760" cy="365760"/>
          </a:xfrm>
          <a:prstGeom prst="ellipse">
            <a:avLst/>
          </a:prstGeom>
          <a:solidFill>
            <a:schemeClr val="accent5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4" name="text-463"/>
          <p:cNvSpPr txBox="1"/>
          <p:nvPr/>
        </p:nvSpPr>
        <p:spPr>
          <a:xfrm>
            <a:off x="5212080" y="4983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900" dirty="0"/>
          </a:p>
        </p:txBody>
      </p:sp>
      <p:sp>
        <p:nvSpPr>
          <p:cNvPr id="75" name="Logisim screenshot placeholder"/>
          <p:cNvSpPr/>
          <p:nvPr/>
        </p:nvSpPr>
        <p:spPr>
          <a:xfrm>
            <a:off x="6537960" y="1371600"/>
            <a:ext cx="5102352" cy="425196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76" name="text-464"/>
          <p:cNvSpPr txBox="1"/>
          <p:nvPr/>
        </p:nvSpPr>
        <p:spPr>
          <a:xfrm>
            <a:off x="6858000" y="2921508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A149D9F5-81F6-4B50-A575-8739FDD2D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1371600"/>
            <a:ext cx="5056633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66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Procedure and Results</a:t>
            </a:r>
            <a:endParaRPr lang="en-US" sz="3000" dirty="0"/>
          </a:p>
        </p:txBody>
      </p:sp>
      <p:sp>
        <p:nvSpPr>
          <p:cNvPr id="4" name="text-467"/>
          <p:cNvSpPr txBox="1"/>
          <p:nvPr/>
        </p:nvSpPr>
        <p:spPr>
          <a:xfrm>
            <a:off x="548640" y="1371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test in Logisim Evolution</a:t>
            </a:r>
            <a:endParaRPr lang="en-US" sz="1600" dirty="0"/>
          </a:p>
        </p:txBody>
      </p:sp>
      <p:sp>
        <p:nvSpPr>
          <p:cNvPr id="5" name="step number-468"/>
          <p:cNvSpPr/>
          <p:nvPr/>
        </p:nvSpPr>
        <p:spPr>
          <a:xfrm>
            <a:off x="548640" y="18836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469"/>
          <p:cNvSpPr txBox="1"/>
          <p:nvPr/>
        </p:nvSpPr>
        <p:spPr>
          <a:xfrm>
            <a:off x="54864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wire-470"/>
          <p:cNvSpPr/>
          <p:nvPr/>
        </p:nvSpPr>
        <p:spPr>
          <a:xfrm>
            <a:off x="740664" y="2267712"/>
            <a:ext cx="0" cy="237744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8" name="text-471"/>
          <p:cNvSpPr txBox="1"/>
          <p:nvPr/>
        </p:nvSpPr>
        <p:spPr>
          <a:xfrm>
            <a:off x="1097280" y="182880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eight input pins: S3–S0 and E3–E0.</a:t>
            </a:r>
            <a:endParaRPr lang="en-US" sz="1400" dirty="0"/>
          </a:p>
        </p:txBody>
      </p:sp>
      <p:sp>
        <p:nvSpPr>
          <p:cNvPr id="9" name="step number-472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-473"/>
          <p:cNvSpPr txBox="1"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wire-474"/>
          <p:cNvSpPr/>
          <p:nvPr/>
        </p:nvSpPr>
        <p:spPr>
          <a:xfrm>
            <a:off x="740664" y="2889504"/>
            <a:ext cx="0" cy="237744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12" name="text-475"/>
          <p:cNvSpPr txBox="1"/>
          <p:nvPr/>
        </p:nvSpPr>
        <p:spPr>
          <a:xfrm>
            <a:off x="1097280" y="245059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four 2-input XOR gates.</a:t>
            </a:r>
            <a:endParaRPr lang="en-US" sz="1400" dirty="0"/>
          </a:p>
        </p:txBody>
      </p:sp>
      <p:sp>
        <p:nvSpPr>
          <p:cNvPr id="13" name="step number-476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-477"/>
          <p:cNvSpPr txBox="1"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wire-478"/>
          <p:cNvSpPr/>
          <p:nvPr/>
        </p:nvSpPr>
        <p:spPr>
          <a:xfrm>
            <a:off x="740664" y="3511296"/>
            <a:ext cx="0" cy="237744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16" name="text-479"/>
          <p:cNvSpPr txBox="1"/>
          <p:nvPr/>
        </p:nvSpPr>
        <p:spPr>
          <a:xfrm>
            <a:off x="1097280" y="307238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each stored bit and its matching entered bit (Si, Ei) to the same XOR gate.</a:t>
            </a:r>
            <a:endParaRPr lang="en-US" sz="1400" dirty="0"/>
          </a:p>
        </p:txBody>
      </p:sp>
      <p:sp>
        <p:nvSpPr>
          <p:cNvPr id="17" name="step number-480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-481"/>
          <p:cNvSpPr txBox="1"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wire-482"/>
          <p:cNvSpPr/>
          <p:nvPr/>
        </p:nvSpPr>
        <p:spPr>
          <a:xfrm>
            <a:off x="740664" y="4133088"/>
            <a:ext cx="0" cy="237744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20" name="text-483"/>
          <p:cNvSpPr txBox="1"/>
          <p:nvPr/>
        </p:nvSpPr>
        <p:spPr>
          <a:xfrm>
            <a:off x="1097280" y="36941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XOR outputs X3–X0 to the NOR-based detector.</a:t>
            </a:r>
            <a:endParaRPr lang="en-US" sz="1400" dirty="0"/>
          </a:p>
        </p:txBody>
      </p:sp>
      <p:sp>
        <p:nvSpPr>
          <p:cNvPr id="21" name="step number-484"/>
          <p:cNvSpPr/>
          <p:nvPr/>
        </p:nvSpPr>
        <p:spPr>
          <a:xfrm>
            <a:off x="548640" y="43708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-485"/>
          <p:cNvSpPr txBox="1"/>
          <p:nvPr/>
        </p:nvSpPr>
        <p:spPr>
          <a:xfrm>
            <a:off x="54864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wire-486"/>
          <p:cNvSpPr/>
          <p:nvPr/>
        </p:nvSpPr>
        <p:spPr>
          <a:xfrm>
            <a:off x="740664" y="4754880"/>
            <a:ext cx="0" cy="237744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24" name="text-487"/>
          <p:cNvSpPr txBox="1"/>
          <p:nvPr/>
        </p:nvSpPr>
        <p:spPr>
          <a:xfrm>
            <a:off x="1097280" y="431596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output LEDs: GRANTED from MATCH, DENIED through a NOT gate.</a:t>
            </a:r>
            <a:endParaRPr lang="en-US" sz="1400" dirty="0"/>
          </a:p>
        </p:txBody>
      </p:sp>
      <p:sp>
        <p:nvSpPr>
          <p:cNvPr id="25" name="step number-488"/>
          <p:cNvSpPr/>
          <p:nvPr/>
        </p:nvSpPr>
        <p:spPr>
          <a:xfrm>
            <a:off x="548640" y="49926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-489"/>
          <p:cNvSpPr txBox="1"/>
          <p:nvPr/>
        </p:nvSpPr>
        <p:spPr>
          <a:xfrm>
            <a:off x="54864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wire-490"/>
          <p:cNvSpPr/>
          <p:nvPr/>
        </p:nvSpPr>
        <p:spPr>
          <a:xfrm>
            <a:off x="740664" y="5376672"/>
            <a:ext cx="0" cy="237744"/>
          </a:xfrm>
          <a:prstGeom prst="line">
            <a:avLst/>
          </a:prstGeom>
          <a:noFill/>
          <a:ln w="19050">
            <a:solidFill>
              <a:srgbClr val="C9D6E6"/>
            </a:solidFill>
            <a:prstDash val="solid"/>
          </a:ln>
        </p:spPr>
      </p:sp>
      <p:sp>
        <p:nvSpPr>
          <p:cNvPr id="28" name="text-491"/>
          <p:cNvSpPr txBox="1"/>
          <p:nvPr/>
        </p:nvSpPr>
        <p:spPr>
          <a:xfrm>
            <a:off x="1097280" y="493776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 pins with the Poke tool to test matching and mismatching IDs.</a:t>
            </a:r>
            <a:endParaRPr lang="en-US" sz="1400" dirty="0"/>
          </a:p>
        </p:txBody>
      </p:sp>
      <p:sp>
        <p:nvSpPr>
          <p:cNvPr id="29" name="step number-492"/>
          <p:cNvSpPr/>
          <p:nvPr/>
        </p:nvSpPr>
        <p:spPr>
          <a:xfrm>
            <a:off x="548640" y="56144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-493"/>
          <p:cNvSpPr txBox="1"/>
          <p:nvPr/>
        </p:nvSpPr>
        <p:spPr>
          <a:xfrm>
            <a:off x="548640" y="5614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-494"/>
          <p:cNvSpPr txBox="1"/>
          <p:nvPr/>
        </p:nvSpPr>
        <p:spPr>
          <a:xfrm>
            <a:off x="1097280" y="555955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every output with the truth table.</a:t>
            </a:r>
            <a:endParaRPr lang="en-US" sz="1400" dirty="0"/>
          </a:p>
        </p:txBody>
      </p:sp>
      <p:sp>
        <p:nvSpPr>
          <p:cNvPr id="32" name="box-495"/>
          <p:cNvSpPr/>
          <p:nvPr/>
        </p:nvSpPr>
        <p:spPr>
          <a:xfrm>
            <a:off x="6126480" y="1371600"/>
            <a:ext cx="219456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3" name="text-496"/>
          <p:cNvSpPr txBox="1"/>
          <p:nvPr/>
        </p:nvSpPr>
        <p:spPr>
          <a:xfrm>
            <a:off x="61264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</a:t>
            </a:r>
            <a:endParaRPr lang="en-US" sz="1200" dirty="0"/>
          </a:p>
        </p:txBody>
      </p:sp>
      <p:sp>
        <p:nvSpPr>
          <p:cNvPr id="34" name="text-497"/>
          <p:cNvSpPr txBox="1"/>
          <p:nvPr/>
        </p:nvSpPr>
        <p:spPr>
          <a:xfrm>
            <a:off x="8458200" y="1325880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Boolean design, not from a simulation run. Fill in the Observed column after simulating.</a:t>
            </a:r>
            <a:endParaRPr lang="en-US" sz="1100" dirty="0"/>
          </a:p>
        </p:txBody>
      </p:sp>
      <p:graphicFrame>
        <p:nvGraphicFramePr>
          <p:cNvPr id="35" name="Expected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011680"/>
          <a:ext cx="5513832" cy="914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/ 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X3–X0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 / 1010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One-bit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1010 / 1000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Two-bit mismatch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1100 / 1111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bits differ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0101 / 1010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box-498"/>
          <p:cNvSpPr/>
          <p:nvPr/>
        </p:nvSpPr>
        <p:spPr>
          <a:xfrm>
            <a:off x="6126480" y="4983480"/>
            <a:ext cx="5513832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37" name="text-499"/>
          <p:cNvSpPr txBox="1"/>
          <p:nvPr/>
        </p:nvSpPr>
        <p:spPr>
          <a:xfrm>
            <a:off x="6355080" y="5029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criterion: 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GRANTED LED lights only when all four XOR outputs are 0; the DENIED LED lights for every other input combination.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0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4" name="box-501"/>
          <p:cNvSpPr/>
          <p:nvPr/>
        </p:nvSpPr>
        <p:spPr>
          <a:xfrm>
            <a:off x="548640" y="1417320"/>
            <a:ext cx="357530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5" name="icon circle-502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-50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1827703"/>
            <a:ext cx="294803" cy="294803"/>
          </a:xfrm>
          <a:prstGeom prst="rect">
            <a:avLst/>
          </a:prstGeom>
        </p:spPr>
      </p:pic>
      <p:sp>
        <p:nvSpPr>
          <p:cNvPr id="7" name="text-504"/>
          <p:cNvSpPr txBox="1"/>
          <p:nvPr/>
        </p:nvSpPr>
        <p:spPr>
          <a:xfrm>
            <a:off x="822960" y="23774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digital logic design</a:t>
            </a:r>
            <a:endParaRPr lang="en-US" sz="1700" dirty="0"/>
          </a:p>
        </p:txBody>
      </p:sp>
      <p:sp>
        <p:nvSpPr>
          <p:cNvPr id="8" name="text-505"/>
          <p:cNvSpPr txBox="1"/>
          <p:nvPr/>
        </p:nvSpPr>
        <p:spPr>
          <a:xfrm>
            <a:off x="822960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XOR, NOR and NOT gates; easy to read, build and explain.</a:t>
            </a:r>
            <a:endParaRPr lang="en-US" sz="1400" dirty="0"/>
          </a:p>
        </p:txBody>
      </p:sp>
      <p:sp>
        <p:nvSpPr>
          <p:cNvPr id="9" name="box-506"/>
          <p:cNvSpPr/>
          <p:nvPr/>
        </p:nvSpPr>
        <p:spPr>
          <a:xfrm>
            <a:off x="4306824" y="1417320"/>
            <a:ext cx="357530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0" name="icon circle-507"/>
          <p:cNvSpPr/>
          <p:nvPr/>
        </p:nvSpPr>
        <p:spPr>
          <a:xfrm>
            <a:off x="4581144" y="1691640"/>
            <a:ext cx="566928" cy="56692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con-50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207" y="1827703"/>
            <a:ext cx="294803" cy="294803"/>
          </a:xfrm>
          <a:prstGeom prst="rect">
            <a:avLst/>
          </a:prstGeom>
        </p:spPr>
      </p:pic>
      <p:sp>
        <p:nvSpPr>
          <p:cNvPr id="12" name="text-509"/>
          <p:cNvSpPr txBox="1"/>
          <p:nvPr/>
        </p:nvSpPr>
        <p:spPr>
          <a:xfrm>
            <a:off x="4581144" y="23774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comparison</a:t>
            </a:r>
            <a:endParaRPr lang="en-US" sz="1700" dirty="0"/>
          </a:p>
        </p:txBody>
      </p:sp>
      <p:sp>
        <p:nvSpPr>
          <p:cNvPr id="13" name="text-510"/>
          <p:cNvSpPr txBox="1"/>
          <p:nvPr/>
        </p:nvSpPr>
        <p:spPr>
          <a:xfrm>
            <a:off x="4581144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gate levels between the inputs and the decision.</a:t>
            </a:r>
            <a:endParaRPr lang="en-US" sz="1400" dirty="0"/>
          </a:p>
        </p:txBody>
      </p:sp>
      <p:sp>
        <p:nvSpPr>
          <p:cNvPr id="14" name="box-511"/>
          <p:cNvSpPr/>
          <p:nvPr/>
        </p:nvSpPr>
        <p:spPr>
          <a:xfrm>
            <a:off x="8065008" y="1417320"/>
            <a:ext cx="357530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5" name="icon circle-512"/>
          <p:cNvSpPr/>
          <p:nvPr/>
        </p:nvSpPr>
        <p:spPr>
          <a:xfrm>
            <a:off x="8339328" y="1691640"/>
            <a:ext cx="566928" cy="566928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16" name="icon-5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391" y="1827703"/>
            <a:ext cx="294803" cy="294803"/>
          </a:xfrm>
          <a:prstGeom prst="rect">
            <a:avLst/>
          </a:prstGeom>
        </p:spPr>
      </p:pic>
      <p:sp>
        <p:nvSpPr>
          <p:cNvPr id="17" name="text-514"/>
          <p:cNvSpPr txBox="1"/>
          <p:nvPr/>
        </p:nvSpPr>
        <p:spPr>
          <a:xfrm>
            <a:off x="8339328" y="23774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simulate</a:t>
            </a:r>
            <a:endParaRPr lang="en-US" sz="1700" dirty="0"/>
          </a:p>
        </p:txBody>
      </p:sp>
      <p:sp>
        <p:nvSpPr>
          <p:cNvPr id="18" name="text-515"/>
          <p:cNvSpPr txBox="1"/>
          <p:nvPr/>
        </p:nvSpPr>
        <p:spPr>
          <a:xfrm>
            <a:off x="8339328" y="27432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 Logisim in minutes; every case checks against the truth table.</a:t>
            </a:r>
            <a:endParaRPr lang="en-US" sz="1400" dirty="0"/>
          </a:p>
        </p:txBody>
      </p:sp>
      <p:sp>
        <p:nvSpPr>
          <p:cNvPr id="19" name="box-516"/>
          <p:cNvSpPr/>
          <p:nvPr/>
        </p:nvSpPr>
        <p:spPr>
          <a:xfrm>
            <a:off x="548640" y="3794760"/>
            <a:ext cx="357530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20" name="icon circle-517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1" name="icon-5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023" y="4205143"/>
            <a:ext cx="294803" cy="294803"/>
          </a:xfrm>
          <a:prstGeom prst="rect">
            <a:avLst/>
          </a:prstGeom>
        </p:spPr>
      </p:pic>
      <p:sp>
        <p:nvSpPr>
          <p:cNvPr id="22" name="text-519"/>
          <p:cNvSpPr txBox="1"/>
          <p:nvPr/>
        </p:nvSpPr>
        <p:spPr>
          <a:xfrm>
            <a:off x="822960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implementation</a:t>
            </a:r>
            <a:endParaRPr lang="en-US" sz="1700" dirty="0"/>
          </a:p>
        </p:txBody>
      </p:sp>
      <p:sp>
        <p:nvSpPr>
          <p:cNvPr id="23" name="text-520"/>
          <p:cNvSpPr txBox="1"/>
          <p:nvPr/>
        </p:nvSpPr>
        <p:spPr>
          <a:xfrm>
            <a:off x="82296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 ID bit adds one XOR gate and one NOR input.</a:t>
            </a:r>
            <a:endParaRPr lang="en-US" sz="1400" dirty="0"/>
          </a:p>
        </p:txBody>
      </p:sp>
      <p:sp>
        <p:nvSpPr>
          <p:cNvPr id="24" name="box-521"/>
          <p:cNvSpPr/>
          <p:nvPr/>
        </p:nvSpPr>
        <p:spPr>
          <a:xfrm>
            <a:off x="4306824" y="3794760"/>
            <a:ext cx="357530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25" name="icon circle-522"/>
          <p:cNvSpPr/>
          <p:nvPr/>
        </p:nvSpPr>
        <p:spPr>
          <a:xfrm>
            <a:off x="4581144" y="4069080"/>
            <a:ext cx="566928" cy="56692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6" name="icon-5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7207" y="4205143"/>
            <a:ext cx="294803" cy="294803"/>
          </a:xfrm>
          <a:prstGeom prst="rect">
            <a:avLst/>
          </a:prstGeom>
        </p:spPr>
      </p:pic>
      <p:sp>
        <p:nvSpPr>
          <p:cNvPr id="27" name="text-524"/>
          <p:cNvSpPr txBox="1"/>
          <p:nvPr/>
        </p:nvSpPr>
        <p:spPr>
          <a:xfrm>
            <a:off x="4581144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programming required</a:t>
            </a:r>
            <a:endParaRPr lang="en-US" sz="1700" dirty="0"/>
          </a:p>
        </p:txBody>
      </p:sp>
      <p:sp>
        <p:nvSpPr>
          <p:cNvPr id="28" name="text-525"/>
          <p:cNvSpPr txBox="1"/>
          <p:nvPr/>
        </p:nvSpPr>
        <p:spPr>
          <a:xfrm>
            <a:off x="4581144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hardware logic; the decision needs no software.</a:t>
            </a:r>
            <a:endParaRPr lang="en-US" sz="1400" dirty="0"/>
          </a:p>
        </p:txBody>
      </p:sp>
      <p:sp>
        <p:nvSpPr>
          <p:cNvPr id="29" name="box-526"/>
          <p:cNvSpPr/>
          <p:nvPr/>
        </p:nvSpPr>
        <p:spPr>
          <a:xfrm>
            <a:off x="8065008" y="3794760"/>
            <a:ext cx="3575304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30" name="icon circle-527"/>
          <p:cNvSpPr/>
          <p:nvPr/>
        </p:nvSpPr>
        <p:spPr>
          <a:xfrm>
            <a:off x="8339328" y="4069080"/>
            <a:ext cx="566928" cy="566928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1" name="icon-5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5391" y="4205143"/>
            <a:ext cx="294803" cy="294803"/>
          </a:xfrm>
          <a:prstGeom prst="rect">
            <a:avLst/>
          </a:prstGeom>
        </p:spPr>
      </p:pic>
      <p:sp>
        <p:nvSpPr>
          <p:cNvPr id="32" name="text-529"/>
          <p:cNvSpPr txBox="1"/>
          <p:nvPr/>
        </p:nvSpPr>
        <p:spPr>
          <a:xfrm>
            <a:off x="8339328" y="4754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hardware cost</a:t>
            </a:r>
            <a:endParaRPr lang="en-US" sz="1700" dirty="0"/>
          </a:p>
        </p:txBody>
      </p:sp>
      <p:sp>
        <p:nvSpPr>
          <p:cNvPr id="33" name="text-530"/>
          <p:cNvSpPr txBox="1"/>
          <p:nvPr/>
        </p:nvSpPr>
        <p:spPr>
          <a:xfrm>
            <a:off x="8339328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built from three common 74-series logic ICs.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3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text-532"/>
          <p:cNvSpPr txBox="1"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of the prototype has a clear upgrade path.</a:t>
            </a:r>
            <a:endParaRPr lang="en-US" sz="1600" dirty="0"/>
          </a:p>
        </p:txBody>
      </p:sp>
      <p:sp>
        <p:nvSpPr>
          <p:cNvPr id="5" name="text-533"/>
          <p:cNvSpPr txBox="1"/>
          <p:nvPr/>
        </p:nvSpPr>
        <p:spPr>
          <a:xfrm>
            <a:off x="54864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</a:t>
            </a:r>
            <a:endParaRPr lang="en-US" sz="1200" dirty="0"/>
          </a:p>
        </p:txBody>
      </p:sp>
      <p:sp>
        <p:nvSpPr>
          <p:cNvPr id="6" name="text-534"/>
          <p:cNvSpPr txBox="1"/>
          <p:nvPr/>
        </p:nvSpPr>
        <p:spPr>
          <a:xfrm>
            <a:off x="649224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IMPROVEMENT</a:t>
            </a:r>
            <a:endParaRPr lang="en-US" sz="1200" dirty="0"/>
          </a:p>
        </p:txBody>
      </p:sp>
      <p:sp>
        <p:nvSpPr>
          <p:cNvPr id="7" name="box-535"/>
          <p:cNvSpPr/>
          <p:nvPr/>
        </p:nvSpPr>
        <p:spPr>
          <a:xfrm>
            <a:off x="548640" y="224028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CEEEE"/>
          </a:solidFill>
          <a:ln/>
        </p:spPr>
      </p:sp>
      <p:sp>
        <p:nvSpPr>
          <p:cNvPr id="8" name="limit marker-536"/>
          <p:cNvSpPr/>
          <p:nvPr/>
        </p:nvSpPr>
        <p:spPr>
          <a:xfrm>
            <a:off x="713232" y="2395728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-537"/>
          <p:cNvSpPr txBox="1"/>
          <p:nvPr/>
        </p:nvSpPr>
        <p:spPr>
          <a:xfrm>
            <a:off x="713232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-538"/>
          <p:cNvSpPr txBox="1"/>
          <p:nvPr/>
        </p:nvSpPr>
        <p:spPr>
          <a:xfrm>
            <a:off x="1188720" y="2240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four-bit IDs</a:t>
            </a:r>
            <a:endParaRPr lang="en-US" sz="1500" dirty="0"/>
          </a:p>
        </p:txBody>
      </p:sp>
      <p:sp>
        <p:nvSpPr>
          <p:cNvPr id="11" name="icon circle-539"/>
          <p:cNvSpPr/>
          <p:nvPr/>
        </p:nvSpPr>
        <p:spPr>
          <a:xfrm>
            <a:off x="5852160" y="2350008"/>
            <a:ext cx="420624" cy="420624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12" name="icon-54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10" y="2450958"/>
            <a:ext cx="218724" cy="218724"/>
          </a:xfrm>
          <a:prstGeom prst="rect">
            <a:avLst/>
          </a:prstGeom>
        </p:spPr>
      </p:pic>
      <p:sp>
        <p:nvSpPr>
          <p:cNvPr id="13" name="box-541"/>
          <p:cNvSpPr/>
          <p:nvPr/>
        </p:nvSpPr>
        <p:spPr>
          <a:xfrm>
            <a:off x="6492240" y="2240280"/>
            <a:ext cx="5148072" cy="640080"/>
          </a:xfrm>
          <a:prstGeom prst="roundRect">
            <a:avLst>
              <a:gd name="adj" fmla="val 11429"/>
            </a:avLst>
          </a:prstGeom>
          <a:solidFill>
            <a:srgbClr val="EEF8F2"/>
          </a:solidFill>
          <a:ln/>
        </p:spPr>
      </p:sp>
      <p:sp>
        <p:nvSpPr>
          <p:cNvPr id="14" name="text-542"/>
          <p:cNvSpPr txBox="1"/>
          <p:nvPr/>
        </p:nvSpPr>
        <p:spPr>
          <a:xfrm>
            <a:off x="6720840" y="22402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ID width to 8, 16 or 32 bits</a:t>
            </a:r>
            <a:endParaRPr lang="en-US" sz="1500" dirty="0"/>
          </a:p>
        </p:txBody>
      </p:sp>
      <p:sp>
        <p:nvSpPr>
          <p:cNvPr id="15" name="box-543"/>
          <p:cNvSpPr/>
          <p:nvPr/>
        </p:nvSpPr>
        <p:spPr>
          <a:xfrm>
            <a:off x="548640" y="3008376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CEEEE"/>
          </a:solidFill>
          <a:ln/>
        </p:spPr>
      </p:sp>
      <p:sp>
        <p:nvSpPr>
          <p:cNvPr id="16" name="limit marker-544"/>
          <p:cNvSpPr/>
          <p:nvPr/>
        </p:nvSpPr>
        <p:spPr>
          <a:xfrm>
            <a:off x="713232" y="3163824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-545"/>
          <p:cNvSpPr txBox="1"/>
          <p:nvPr/>
        </p:nvSpPr>
        <p:spPr>
          <a:xfrm>
            <a:off x="713232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-546"/>
          <p:cNvSpPr txBox="1"/>
          <p:nvPr/>
        </p:nvSpPr>
        <p:spPr>
          <a:xfrm>
            <a:off x="1188720" y="300837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card reader</a:t>
            </a:r>
            <a:endParaRPr lang="en-US" sz="1500" dirty="0"/>
          </a:p>
        </p:txBody>
      </p:sp>
      <p:sp>
        <p:nvSpPr>
          <p:cNvPr id="19" name="icon circle-547"/>
          <p:cNvSpPr/>
          <p:nvPr/>
        </p:nvSpPr>
        <p:spPr>
          <a:xfrm>
            <a:off x="5852160" y="3118104"/>
            <a:ext cx="420624" cy="420624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20" name="icon-54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10" y="3219054"/>
            <a:ext cx="218724" cy="218724"/>
          </a:xfrm>
          <a:prstGeom prst="rect">
            <a:avLst/>
          </a:prstGeom>
        </p:spPr>
      </p:pic>
      <p:sp>
        <p:nvSpPr>
          <p:cNvPr id="21" name="box-549"/>
          <p:cNvSpPr/>
          <p:nvPr/>
        </p:nvSpPr>
        <p:spPr>
          <a:xfrm>
            <a:off x="6492240" y="3008376"/>
            <a:ext cx="5148072" cy="640080"/>
          </a:xfrm>
          <a:prstGeom prst="roundRect">
            <a:avLst>
              <a:gd name="adj" fmla="val 11429"/>
            </a:avLst>
          </a:prstGeom>
          <a:solidFill>
            <a:srgbClr val="EEF8F2"/>
          </a:solidFill>
          <a:ln/>
        </p:spPr>
      </p:sp>
      <p:sp>
        <p:nvSpPr>
          <p:cNvPr id="22" name="text-550"/>
          <p:cNvSpPr txBox="1"/>
          <p:nvPr/>
        </p:nvSpPr>
        <p:spPr>
          <a:xfrm>
            <a:off x="6720840" y="3008376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RFID or NFC reader</a:t>
            </a:r>
            <a:endParaRPr lang="en-US" sz="1500" dirty="0"/>
          </a:p>
        </p:txBody>
      </p:sp>
      <p:sp>
        <p:nvSpPr>
          <p:cNvPr id="23" name="box-551"/>
          <p:cNvSpPr/>
          <p:nvPr/>
        </p:nvSpPr>
        <p:spPr>
          <a:xfrm>
            <a:off x="548640" y="3776472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CEEEE"/>
          </a:solidFill>
          <a:ln/>
        </p:spPr>
      </p:sp>
      <p:sp>
        <p:nvSpPr>
          <p:cNvPr id="24" name="limit marker-552"/>
          <p:cNvSpPr/>
          <p:nvPr/>
        </p:nvSpPr>
        <p:spPr>
          <a:xfrm>
            <a:off x="713232" y="3931920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text-553"/>
          <p:cNvSpPr txBox="1"/>
          <p:nvPr/>
        </p:nvSpPr>
        <p:spPr>
          <a:xfrm>
            <a:off x="713232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-554"/>
          <p:cNvSpPr txBox="1"/>
          <p:nvPr/>
        </p:nvSpPr>
        <p:spPr>
          <a:xfrm>
            <a:off x="1188720" y="37764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or user management</a:t>
            </a:r>
            <a:endParaRPr lang="en-US" sz="1500" dirty="0"/>
          </a:p>
        </p:txBody>
      </p:sp>
      <p:sp>
        <p:nvSpPr>
          <p:cNvPr id="27" name="icon circle-555"/>
          <p:cNvSpPr/>
          <p:nvPr/>
        </p:nvSpPr>
        <p:spPr>
          <a:xfrm>
            <a:off x="5852160" y="3886200"/>
            <a:ext cx="420624" cy="420624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28" name="icon-55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10" y="3987150"/>
            <a:ext cx="218724" cy="218724"/>
          </a:xfrm>
          <a:prstGeom prst="rect">
            <a:avLst/>
          </a:prstGeom>
        </p:spPr>
      </p:pic>
      <p:sp>
        <p:nvSpPr>
          <p:cNvPr id="29" name="box-557"/>
          <p:cNvSpPr/>
          <p:nvPr/>
        </p:nvSpPr>
        <p:spPr>
          <a:xfrm>
            <a:off x="6492240" y="3776472"/>
            <a:ext cx="5148072" cy="640080"/>
          </a:xfrm>
          <a:prstGeom prst="roundRect">
            <a:avLst>
              <a:gd name="adj" fmla="val 11429"/>
            </a:avLst>
          </a:prstGeom>
          <a:solidFill>
            <a:srgbClr val="EEF8F2"/>
          </a:solidFill>
          <a:ln/>
        </p:spPr>
      </p:sp>
      <p:sp>
        <p:nvSpPr>
          <p:cNvPr id="30" name="text-558"/>
          <p:cNvSpPr txBox="1"/>
          <p:nvPr/>
        </p:nvSpPr>
        <p:spPr>
          <a:xfrm>
            <a:off x="6720840" y="377647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authorised IDs in memory or a register file</a:t>
            </a:r>
            <a:endParaRPr lang="en-US" sz="1500" dirty="0"/>
          </a:p>
        </p:txBody>
      </p:sp>
      <p:sp>
        <p:nvSpPr>
          <p:cNvPr id="31" name="box-559"/>
          <p:cNvSpPr/>
          <p:nvPr/>
        </p:nvSpPr>
        <p:spPr>
          <a:xfrm>
            <a:off x="548640" y="4544568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CEEEE"/>
          </a:solidFill>
          <a:ln/>
        </p:spPr>
      </p:sp>
      <p:sp>
        <p:nvSpPr>
          <p:cNvPr id="32" name="limit marker-560"/>
          <p:cNvSpPr/>
          <p:nvPr/>
        </p:nvSpPr>
        <p:spPr>
          <a:xfrm>
            <a:off x="713232" y="4700016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3" name="text-561"/>
          <p:cNvSpPr txBox="1"/>
          <p:nvPr/>
        </p:nvSpPr>
        <p:spPr>
          <a:xfrm>
            <a:off x="713232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-562"/>
          <p:cNvSpPr txBox="1"/>
          <p:nvPr/>
        </p:nvSpPr>
        <p:spPr>
          <a:xfrm>
            <a:off x="1188720" y="45445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 possible ID combinations</a:t>
            </a:r>
            <a:endParaRPr lang="en-US" sz="1500" dirty="0"/>
          </a:p>
        </p:txBody>
      </p:sp>
      <p:sp>
        <p:nvSpPr>
          <p:cNvPr id="35" name="icon circle-563"/>
          <p:cNvSpPr/>
          <p:nvPr/>
        </p:nvSpPr>
        <p:spPr>
          <a:xfrm>
            <a:off x="5852160" y="4654296"/>
            <a:ext cx="420624" cy="420624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36" name="icon-56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10" y="4755246"/>
            <a:ext cx="218724" cy="218724"/>
          </a:xfrm>
          <a:prstGeom prst="rect">
            <a:avLst/>
          </a:prstGeom>
        </p:spPr>
      </p:pic>
      <p:sp>
        <p:nvSpPr>
          <p:cNvPr id="37" name="box-565"/>
          <p:cNvSpPr/>
          <p:nvPr/>
        </p:nvSpPr>
        <p:spPr>
          <a:xfrm>
            <a:off x="6492240" y="4544568"/>
            <a:ext cx="5148072" cy="640080"/>
          </a:xfrm>
          <a:prstGeom prst="roundRect">
            <a:avLst>
              <a:gd name="adj" fmla="val 11429"/>
            </a:avLst>
          </a:prstGeom>
          <a:solidFill>
            <a:srgbClr val="EEF8F2"/>
          </a:solidFill>
          <a:ln/>
        </p:spPr>
      </p:sp>
      <p:sp>
        <p:nvSpPr>
          <p:cNvPr id="38" name="text-566"/>
          <p:cNvSpPr txBox="1"/>
          <p:nvPr/>
        </p:nvSpPr>
        <p:spPr>
          <a:xfrm>
            <a:off x="6720840" y="454456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IDs give 2ⁿ combinations (65,536 at 16 bits)</a:t>
            </a:r>
            <a:endParaRPr lang="en-US" sz="1500" dirty="0"/>
          </a:p>
        </p:txBody>
      </p:sp>
      <p:sp>
        <p:nvSpPr>
          <p:cNvPr id="39" name="box-567"/>
          <p:cNvSpPr/>
          <p:nvPr/>
        </p:nvSpPr>
        <p:spPr>
          <a:xfrm>
            <a:off x="548640" y="5312664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CEEEE"/>
          </a:solidFill>
          <a:ln/>
        </p:spPr>
      </p:sp>
      <p:sp>
        <p:nvSpPr>
          <p:cNvPr id="40" name="limit marker-568"/>
          <p:cNvSpPr/>
          <p:nvPr/>
        </p:nvSpPr>
        <p:spPr>
          <a:xfrm>
            <a:off x="713232" y="5468112"/>
            <a:ext cx="329184" cy="32918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1" name="text-569"/>
          <p:cNvSpPr txBox="1"/>
          <p:nvPr/>
        </p:nvSpPr>
        <p:spPr>
          <a:xfrm>
            <a:off x="713232" y="5468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-570"/>
          <p:cNvSpPr txBox="1"/>
          <p:nvPr/>
        </p:nvSpPr>
        <p:spPr>
          <a:xfrm>
            <a:off x="1188720" y="531266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secure enough for real-world access control</a:t>
            </a:r>
            <a:endParaRPr lang="en-US" sz="1500" dirty="0"/>
          </a:p>
        </p:txBody>
      </p:sp>
      <p:sp>
        <p:nvSpPr>
          <p:cNvPr id="43" name="icon circle-571"/>
          <p:cNvSpPr/>
          <p:nvPr/>
        </p:nvSpPr>
        <p:spPr>
          <a:xfrm>
            <a:off x="5852160" y="5422392"/>
            <a:ext cx="420624" cy="420624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44" name="icon-57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10" y="5523342"/>
            <a:ext cx="218724" cy="218724"/>
          </a:xfrm>
          <a:prstGeom prst="rect">
            <a:avLst/>
          </a:prstGeom>
        </p:spPr>
      </p:pic>
      <p:sp>
        <p:nvSpPr>
          <p:cNvPr id="45" name="box-573"/>
          <p:cNvSpPr/>
          <p:nvPr/>
        </p:nvSpPr>
        <p:spPr>
          <a:xfrm>
            <a:off x="6492240" y="5312664"/>
            <a:ext cx="5148072" cy="640080"/>
          </a:xfrm>
          <a:prstGeom prst="roundRect">
            <a:avLst>
              <a:gd name="adj" fmla="val 11429"/>
            </a:avLst>
          </a:prstGeom>
          <a:solidFill>
            <a:srgbClr val="EEF8F2"/>
          </a:solidFill>
          <a:ln/>
        </p:spPr>
      </p:sp>
      <p:sp>
        <p:nvSpPr>
          <p:cNvPr id="46" name="text-574"/>
          <p:cNvSpPr txBox="1"/>
          <p:nvPr/>
        </p:nvSpPr>
        <p:spPr>
          <a:xfrm>
            <a:off x="6720840" y="531266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attempt counting, lockout and stronger authentication</a:t>
            </a:r>
            <a:endParaRPr lang="en-US" sz="15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75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and Future Scope</a:t>
            </a:r>
            <a:endParaRPr lang="en-US" sz="3000" dirty="0"/>
          </a:p>
        </p:txBody>
      </p:sp>
      <p:sp>
        <p:nvSpPr>
          <p:cNvPr id="4" name="text-576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5" name="box-577"/>
          <p:cNvSpPr/>
          <p:nvPr/>
        </p:nvSpPr>
        <p:spPr>
          <a:xfrm>
            <a:off x="548640" y="1874520"/>
            <a:ext cx="51206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6" name="icon circle-578"/>
          <p:cNvSpPr/>
          <p:nvPr/>
        </p:nvSpPr>
        <p:spPr>
          <a:xfrm>
            <a:off x="777240" y="2176272"/>
            <a:ext cx="621792" cy="62179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7" name="icon-57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70" y="2325502"/>
            <a:ext cx="323332" cy="323332"/>
          </a:xfrm>
          <a:prstGeom prst="rect">
            <a:avLst/>
          </a:prstGeom>
        </p:spPr>
      </p:pic>
      <p:sp>
        <p:nvSpPr>
          <p:cNvPr id="8" name="text-580"/>
          <p:cNvSpPr txBox="1"/>
          <p:nvPr/>
        </p:nvSpPr>
        <p:spPr>
          <a:xfrm>
            <a:off x="1600200" y="2057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demonstrations</a:t>
            </a:r>
            <a:endParaRPr lang="en-US" sz="1600" dirty="0"/>
          </a:p>
        </p:txBody>
      </p:sp>
      <p:sp>
        <p:nvSpPr>
          <p:cNvPr id="9" name="text-581"/>
          <p:cNvSpPr txBox="1"/>
          <p:nvPr/>
        </p:nvSpPr>
        <p:spPr>
          <a:xfrm>
            <a:off x="1600200" y="2423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comparators, XOR and NOR logic in DDCA labs.</a:t>
            </a:r>
            <a:endParaRPr lang="en-US" sz="1400" dirty="0"/>
          </a:p>
        </p:txBody>
      </p:sp>
      <p:sp>
        <p:nvSpPr>
          <p:cNvPr id="10" name="box-582"/>
          <p:cNvSpPr/>
          <p:nvPr/>
        </p:nvSpPr>
        <p:spPr>
          <a:xfrm>
            <a:off x="548640" y="3291840"/>
            <a:ext cx="51206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1" name="icon circle-583"/>
          <p:cNvSpPr/>
          <p:nvPr/>
        </p:nvSpPr>
        <p:spPr>
          <a:xfrm>
            <a:off x="777240" y="3593592"/>
            <a:ext cx="621792" cy="62179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2" name="icon-58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70" y="3742822"/>
            <a:ext cx="323332" cy="323332"/>
          </a:xfrm>
          <a:prstGeom prst="rect">
            <a:avLst/>
          </a:prstGeom>
        </p:spPr>
      </p:pic>
      <p:sp>
        <p:nvSpPr>
          <p:cNvPr id="13" name="text-585"/>
          <p:cNvSpPr txBox="1"/>
          <p:nvPr/>
        </p:nvSpPr>
        <p:spPr>
          <a:xfrm>
            <a:off x="1600200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access prototypes</a:t>
            </a:r>
            <a:endParaRPr lang="en-US" sz="1600" dirty="0"/>
          </a:p>
        </p:txBody>
      </p:sp>
      <p:sp>
        <p:nvSpPr>
          <p:cNvPr id="14" name="text-586"/>
          <p:cNvSpPr txBox="1"/>
          <p:nvPr/>
        </p:nvSpPr>
        <p:spPr>
          <a:xfrm>
            <a:off x="160020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model for controlled lab entry.</a:t>
            </a:r>
            <a:endParaRPr lang="en-US" sz="1400" dirty="0"/>
          </a:p>
        </p:txBody>
      </p:sp>
      <p:sp>
        <p:nvSpPr>
          <p:cNvPr id="15" name="box-587"/>
          <p:cNvSpPr/>
          <p:nvPr/>
        </p:nvSpPr>
        <p:spPr>
          <a:xfrm>
            <a:off x="548640" y="4709160"/>
            <a:ext cx="51206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6" name="icon circle-588"/>
          <p:cNvSpPr/>
          <p:nvPr/>
        </p:nvSpPr>
        <p:spPr>
          <a:xfrm>
            <a:off x="777240" y="5010912"/>
            <a:ext cx="621792" cy="62179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7" name="icon-58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70" y="5160142"/>
            <a:ext cx="323332" cy="323332"/>
          </a:xfrm>
          <a:prstGeom prst="rect">
            <a:avLst/>
          </a:prstGeom>
        </p:spPr>
      </p:pic>
      <p:sp>
        <p:nvSpPr>
          <p:cNvPr id="18" name="text-590"/>
          <p:cNvSpPr txBox="1"/>
          <p:nvPr/>
        </p:nvSpPr>
        <p:spPr>
          <a:xfrm>
            <a:off x="1600200" y="4892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and office access</a:t>
            </a:r>
            <a:endParaRPr lang="en-US" sz="1600" dirty="0"/>
          </a:p>
        </p:txBody>
      </p:sp>
      <p:sp>
        <p:nvSpPr>
          <p:cNvPr id="19" name="text-591"/>
          <p:cNvSpPr txBox="1"/>
          <p:nvPr/>
        </p:nvSpPr>
        <p:spPr>
          <a:xfrm>
            <a:off x="160020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card-based entry in shared spaces.</a:t>
            </a:r>
            <a:endParaRPr lang="en-US" sz="1400" dirty="0"/>
          </a:p>
        </p:txBody>
      </p:sp>
      <p:sp>
        <p:nvSpPr>
          <p:cNvPr id="20" name="box-592"/>
          <p:cNvSpPr/>
          <p:nvPr/>
        </p:nvSpPr>
        <p:spPr>
          <a:xfrm>
            <a:off x="6035040" y="1371600"/>
            <a:ext cx="5605272" cy="4892040"/>
          </a:xfrm>
          <a:prstGeom prst="roundRect">
            <a:avLst>
              <a:gd name="adj" fmla="val 2243"/>
            </a:avLst>
          </a:prstGeom>
          <a:solidFill>
            <a:schemeClr val="tx1"/>
          </a:solidFill>
          <a:ln/>
          <a:effectLst>
            <a:outerShdw blurRad="101600" dist="38100" dir="5400000" algn="bl" rotWithShape="0">
              <a:srgbClr val="0B1D3A">
                <a:alpha val="18000"/>
              </a:srgbClr>
            </a:outerShdw>
          </a:effectLst>
        </p:spPr>
      </p:sp>
      <p:sp>
        <p:nvSpPr>
          <p:cNvPr id="21" name="icon circle-593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icon-59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1664208"/>
            <a:ext cx="237744" cy="237744"/>
          </a:xfrm>
          <a:prstGeom prst="rect">
            <a:avLst/>
          </a:prstGeom>
        </p:spPr>
      </p:pic>
      <p:sp>
        <p:nvSpPr>
          <p:cNvPr id="23" name="text-595"/>
          <p:cNvSpPr txBox="1"/>
          <p:nvPr/>
        </p:nvSpPr>
        <p:spPr>
          <a:xfrm>
            <a:off x="685800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24" name="future step-596"/>
          <p:cNvSpPr/>
          <p:nvPr/>
        </p:nvSpPr>
        <p:spPr>
          <a:xfrm>
            <a:off x="6355080" y="231343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-597"/>
          <p:cNvSpPr txBox="1"/>
          <p:nvPr/>
        </p:nvSpPr>
        <p:spPr>
          <a:xfrm>
            <a:off x="6355080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wire-598"/>
          <p:cNvSpPr/>
          <p:nvPr/>
        </p:nvSpPr>
        <p:spPr>
          <a:xfrm>
            <a:off x="6556248" y="2715768"/>
            <a:ext cx="0" cy="37490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7" name="text-599"/>
          <p:cNvSpPr txBox="1"/>
          <p:nvPr/>
        </p:nvSpPr>
        <p:spPr>
          <a:xfrm>
            <a:off x="6949440" y="22402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ID width</a:t>
            </a:r>
            <a:endParaRPr lang="en-US" sz="1500" dirty="0"/>
          </a:p>
        </p:txBody>
      </p:sp>
      <p:sp>
        <p:nvSpPr>
          <p:cNvPr id="28" name="future step-600"/>
          <p:cNvSpPr/>
          <p:nvPr/>
        </p:nvSpPr>
        <p:spPr>
          <a:xfrm>
            <a:off x="6355080" y="309067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-601"/>
          <p:cNvSpPr txBox="1"/>
          <p:nvPr/>
        </p:nvSpPr>
        <p:spPr>
          <a:xfrm>
            <a:off x="635508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wire-602"/>
          <p:cNvSpPr/>
          <p:nvPr/>
        </p:nvSpPr>
        <p:spPr>
          <a:xfrm>
            <a:off x="6556248" y="3493008"/>
            <a:ext cx="0" cy="37490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1" name="text-603"/>
          <p:cNvSpPr txBox="1"/>
          <p:nvPr/>
        </p:nvSpPr>
        <p:spPr>
          <a:xfrm>
            <a:off x="6949440" y="30175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attempt counter and lockout logic</a:t>
            </a:r>
            <a:endParaRPr lang="en-US" sz="1500" dirty="0"/>
          </a:p>
        </p:txBody>
      </p:sp>
      <p:sp>
        <p:nvSpPr>
          <p:cNvPr id="32" name="future step-604"/>
          <p:cNvSpPr/>
          <p:nvPr/>
        </p:nvSpPr>
        <p:spPr>
          <a:xfrm>
            <a:off x="6355080" y="38679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-605"/>
          <p:cNvSpPr txBox="1"/>
          <p:nvPr/>
        </p:nvSpPr>
        <p:spPr>
          <a:xfrm>
            <a:off x="635508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wire-606"/>
          <p:cNvSpPr/>
          <p:nvPr/>
        </p:nvSpPr>
        <p:spPr>
          <a:xfrm>
            <a:off x="6556248" y="4270248"/>
            <a:ext cx="0" cy="37490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5" name="text-607"/>
          <p:cNvSpPr txBox="1"/>
          <p:nvPr/>
        </p:nvSpPr>
        <p:spPr>
          <a:xfrm>
            <a:off x="6949440" y="37947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RFID or NFC reader</a:t>
            </a:r>
            <a:endParaRPr lang="en-US" sz="1500" dirty="0"/>
          </a:p>
        </p:txBody>
      </p:sp>
      <p:sp>
        <p:nvSpPr>
          <p:cNvPr id="36" name="future step-608"/>
          <p:cNvSpPr/>
          <p:nvPr/>
        </p:nvSpPr>
        <p:spPr>
          <a:xfrm>
            <a:off x="6355080" y="4645152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text-609"/>
          <p:cNvSpPr txBox="1"/>
          <p:nvPr/>
        </p:nvSpPr>
        <p:spPr>
          <a:xfrm>
            <a:off x="6355080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wire-610"/>
          <p:cNvSpPr/>
          <p:nvPr/>
        </p:nvSpPr>
        <p:spPr>
          <a:xfrm>
            <a:off x="6556248" y="5047488"/>
            <a:ext cx="0" cy="374904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9" name="text-611"/>
          <p:cNvSpPr txBox="1"/>
          <p:nvPr/>
        </p:nvSpPr>
        <p:spPr>
          <a:xfrm>
            <a:off x="6949440" y="45720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microcontroller and display</a:t>
            </a:r>
            <a:endParaRPr lang="en-US" sz="1500" dirty="0"/>
          </a:p>
        </p:txBody>
      </p:sp>
      <p:sp>
        <p:nvSpPr>
          <p:cNvPr id="40" name="future step-612"/>
          <p:cNvSpPr/>
          <p:nvPr/>
        </p:nvSpPr>
        <p:spPr>
          <a:xfrm>
            <a:off x="6355080" y="542239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-613"/>
          <p:cNvSpPr txBox="1"/>
          <p:nvPr/>
        </p:nvSpPr>
        <p:spPr>
          <a:xfrm>
            <a:off x="6355080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-614"/>
          <p:cNvSpPr txBox="1"/>
          <p:nvPr/>
        </p:nvSpPr>
        <p:spPr>
          <a:xfrm>
            <a:off x="6949440" y="53492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stronger authentication safeguards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15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box-616"/>
          <p:cNvSpPr/>
          <p:nvPr/>
        </p:nvSpPr>
        <p:spPr>
          <a:xfrm>
            <a:off x="548640" y="1371600"/>
            <a:ext cx="11091672" cy="18288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5" name="icon circle-617"/>
          <p:cNvSpPr/>
          <p:nvPr/>
        </p:nvSpPr>
        <p:spPr>
          <a:xfrm>
            <a:off x="822960" y="162763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6" name="icon-6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759306"/>
            <a:ext cx="285293" cy="285293"/>
          </a:xfrm>
          <a:prstGeom prst="rect">
            <a:avLst/>
          </a:prstGeom>
        </p:spPr>
      </p:pic>
      <p:sp>
        <p:nvSpPr>
          <p:cNvPr id="7" name="text-619"/>
          <p:cNvSpPr txBox="1"/>
          <p:nvPr/>
        </p:nvSpPr>
        <p:spPr>
          <a:xfrm>
            <a:off x="1600200" y="1508760"/>
            <a:ext cx="9784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XOR gates compare the stored and entered IDs bit by bit, producing a mismatch vector that is 0000 only when the IDs are identical. NOR-based logic turns this vector into a single MATCH signal that drives the ACCESS GRANTED and ACCESS DENIED outputs.</a:t>
            </a:r>
            <a:endParaRPr lang="en-US" sz="1700" dirty="0"/>
          </a:p>
        </p:txBody>
      </p:sp>
      <p:sp>
        <p:nvSpPr>
          <p:cNvPr id="8" name="box-620"/>
          <p:cNvSpPr/>
          <p:nvPr/>
        </p:nvSpPr>
        <p:spPr>
          <a:xfrm>
            <a:off x="548640" y="3474720"/>
            <a:ext cx="3575304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9" name="icon circle-621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icon-6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3839383"/>
            <a:ext cx="294803" cy="294803"/>
          </a:xfrm>
          <a:prstGeom prst="rect">
            <a:avLst/>
          </a:prstGeom>
        </p:spPr>
      </p:pic>
      <p:sp>
        <p:nvSpPr>
          <p:cNvPr id="11" name="text-623"/>
          <p:cNvSpPr txBox="1"/>
          <p:nvPr/>
        </p:nvSpPr>
        <p:spPr>
          <a:xfrm>
            <a:off x="822960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compares</a:t>
            </a:r>
            <a:endParaRPr lang="en-US" sz="1800" dirty="0"/>
          </a:p>
        </p:txBody>
      </p:sp>
      <p:sp>
        <p:nvSpPr>
          <p:cNvPr id="12" name="text-624"/>
          <p:cNvSpPr txBox="1"/>
          <p:nvPr/>
        </p:nvSpPr>
        <p:spPr>
          <a:xfrm>
            <a:off x="822960" y="48006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XOR flags one mismatched bit, giving X3–X0.</a:t>
            </a:r>
            <a:endParaRPr lang="en-US" sz="1400" dirty="0"/>
          </a:p>
        </p:txBody>
      </p:sp>
      <p:sp>
        <p:nvSpPr>
          <p:cNvPr id="13" name="box-625"/>
          <p:cNvSpPr/>
          <p:nvPr/>
        </p:nvSpPr>
        <p:spPr>
          <a:xfrm>
            <a:off x="4306824" y="3474720"/>
            <a:ext cx="3575304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14" name="icon circle-626"/>
          <p:cNvSpPr/>
          <p:nvPr/>
        </p:nvSpPr>
        <p:spPr>
          <a:xfrm>
            <a:off x="4581144" y="3703320"/>
            <a:ext cx="566928" cy="56692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5" name="icon-62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207" y="3839383"/>
            <a:ext cx="294803" cy="294803"/>
          </a:xfrm>
          <a:prstGeom prst="rect">
            <a:avLst/>
          </a:prstGeom>
        </p:spPr>
      </p:pic>
      <p:sp>
        <p:nvSpPr>
          <p:cNvPr id="16" name="text-628"/>
          <p:cNvSpPr txBox="1"/>
          <p:nvPr/>
        </p:nvSpPr>
        <p:spPr>
          <a:xfrm>
            <a:off x="4581144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 decides</a:t>
            </a:r>
            <a:endParaRPr lang="en-US" sz="1800" dirty="0"/>
          </a:p>
        </p:txBody>
      </p:sp>
      <p:sp>
        <p:nvSpPr>
          <p:cNvPr id="17" name="text-629"/>
          <p:cNvSpPr txBox="1"/>
          <p:nvPr/>
        </p:nvSpPr>
        <p:spPr>
          <a:xfrm>
            <a:off x="4581144" y="48006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= 1 only when no bit mismatches, so access is granted only for the correct ID.</a:t>
            </a:r>
            <a:endParaRPr lang="en-US" sz="1400" dirty="0"/>
          </a:p>
        </p:txBody>
      </p:sp>
      <p:sp>
        <p:nvSpPr>
          <p:cNvPr id="18" name="box-630"/>
          <p:cNvSpPr/>
          <p:nvPr/>
        </p:nvSpPr>
        <p:spPr>
          <a:xfrm>
            <a:off x="8065008" y="3474720"/>
            <a:ext cx="3575304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19" name="icon circle-631"/>
          <p:cNvSpPr/>
          <p:nvPr/>
        </p:nvSpPr>
        <p:spPr>
          <a:xfrm>
            <a:off x="8339328" y="3703320"/>
            <a:ext cx="566928" cy="56692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0" name="icon-63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391" y="3839383"/>
            <a:ext cx="294803" cy="294803"/>
          </a:xfrm>
          <a:prstGeom prst="rect">
            <a:avLst/>
          </a:prstGeom>
        </p:spPr>
      </p:pic>
      <p:sp>
        <p:nvSpPr>
          <p:cNvPr id="21" name="text-633"/>
          <p:cNvSpPr txBox="1"/>
          <p:nvPr/>
        </p:nvSpPr>
        <p:spPr>
          <a:xfrm>
            <a:off x="8339328" y="4389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verifies</a:t>
            </a:r>
            <a:endParaRPr lang="en-US" sz="1800" dirty="0"/>
          </a:p>
        </p:txBody>
      </p:sp>
      <p:sp>
        <p:nvSpPr>
          <p:cNvPr id="22" name="text-634"/>
          <p:cNvSpPr txBox="1"/>
          <p:nvPr/>
        </p:nvSpPr>
        <p:spPr>
          <a:xfrm>
            <a:off x="8339328" y="48006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and Logisim confirm the design, demonstrating combinational logic design and digital verification.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35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4" name="box-636"/>
          <p:cNvSpPr/>
          <p:nvPr/>
        </p:nvSpPr>
        <p:spPr>
          <a:xfrm>
            <a:off x="489204" y="1325880"/>
            <a:ext cx="11091672" cy="128016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  <p:txBody>
          <a:bodyPr/>
          <a:lstStyle/>
          <a:p>
            <a:r>
              <a:rPr lang="en-US" dirty="0"/>
              <a:t>https://github.com/renusree88/KLHB--Design-and-Simulation-of-Digital-Access-Card-Verification-Using-XOR-NOR-t</a:t>
            </a:r>
            <a:r>
              <a:rPr lang="en-US" dirty="0">
                <a:hlinkClick r:id="rId3" tooltip="https://github.com/renusree88/KLHB--Design-and-Simulation-of-Digital-Access-Card-Verification-Using-XOR-NOR-Logic.git"/>
              </a:rPr>
              <a:t>https://github.com/renusree88/KLHB--Design-and-Simulation-of-Digital-Access-Card-Verification-Using-XOR-NOR-Logic.git </a:t>
            </a:r>
            <a:r>
              <a:rPr lang="en-US" dirty="0"/>
              <a:t>https://github.com/renusree88/KLHB--</a:t>
            </a:r>
          </a:p>
        </p:txBody>
      </p:sp>
      <p:sp>
        <p:nvSpPr>
          <p:cNvPr id="5" name="icon circle-637"/>
          <p:cNvSpPr/>
          <p:nvPr/>
        </p:nvSpPr>
        <p:spPr>
          <a:xfrm>
            <a:off x="3975811" y="452628"/>
            <a:ext cx="822960" cy="82296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6" name="icon-63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928" y="611696"/>
            <a:ext cx="466725" cy="466725"/>
          </a:xfrm>
          <a:prstGeom prst="rect">
            <a:avLst/>
          </a:prstGeom>
        </p:spPr>
      </p:pic>
      <p:sp>
        <p:nvSpPr>
          <p:cNvPr id="7" name="text-639"/>
          <p:cNvSpPr txBox="1"/>
          <p:nvPr/>
        </p:nvSpPr>
        <p:spPr>
          <a:xfrm>
            <a:off x="694944" y="140246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kern="0" spc="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</a:t>
            </a:r>
            <a:endParaRPr lang="en-US" sz="1200" dirty="0"/>
          </a:p>
        </p:txBody>
      </p:sp>
      <p:sp>
        <p:nvSpPr>
          <p:cNvPr id="9" name="text-640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contents</a:t>
            </a:r>
            <a:endParaRPr lang="en-US" sz="1800" dirty="0"/>
          </a:p>
        </p:txBody>
      </p:sp>
      <p:sp>
        <p:nvSpPr>
          <p:cNvPr id="10" name="box-641"/>
          <p:cNvSpPr/>
          <p:nvPr/>
        </p:nvSpPr>
        <p:spPr>
          <a:xfrm>
            <a:off x="548640" y="3429000"/>
            <a:ext cx="2633472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icon circle-642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icon-64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732581"/>
            <a:ext cx="261518" cy="261518"/>
          </a:xfrm>
          <a:prstGeom prst="rect">
            <a:avLst/>
          </a:prstGeom>
        </p:spPr>
      </p:pic>
      <p:sp>
        <p:nvSpPr>
          <p:cNvPr id="13" name="text-644"/>
          <p:cNvSpPr txBox="1"/>
          <p:nvPr/>
        </p:nvSpPr>
        <p:spPr>
          <a:xfrm>
            <a:off x="777240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diagram</a:t>
            </a:r>
            <a:endParaRPr lang="en-US" sz="1500" dirty="0"/>
          </a:p>
        </p:txBody>
      </p:sp>
      <p:sp>
        <p:nvSpPr>
          <p:cNvPr id="14" name="text-645"/>
          <p:cNvSpPr txBox="1"/>
          <p:nvPr/>
        </p:nvSpPr>
        <p:spPr>
          <a:xfrm>
            <a:off x="777240" y="4526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Gate-level diagram of the verifier</a:t>
            </a:r>
            <a:endParaRPr lang="en-US" sz="1300" dirty="0"/>
          </a:p>
        </p:txBody>
      </p:sp>
      <p:sp>
        <p:nvSpPr>
          <p:cNvPr id="15" name="box-646"/>
          <p:cNvSpPr/>
          <p:nvPr/>
        </p:nvSpPr>
        <p:spPr>
          <a:xfrm>
            <a:off x="3364992" y="3429000"/>
            <a:ext cx="2633472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icon circle-647"/>
          <p:cNvSpPr/>
          <p:nvPr/>
        </p:nvSpPr>
        <p:spPr>
          <a:xfrm>
            <a:off x="3593592" y="361188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7" name="icon-64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293" y="3732581"/>
            <a:ext cx="261518" cy="261518"/>
          </a:xfrm>
          <a:prstGeom prst="rect">
            <a:avLst/>
          </a:prstGeom>
        </p:spPr>
      </p:pic>
      <p:sp>
        <p:nvSpPr>
          <p:cNvPr id="18" name="text-649"/>
          <p:cNvSpPr txBox="1"/>
          <p:nvPr/>
        </p:nvSpPr>
        <p:spPr>
          <a:xfrm>
            <a:off x="3593592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file</a:t>
            </a:r>
            <a:endParaRPr lang="en-US" sz="1500" dirty="0"/>
          </a:p>
        </p:txBody>
      </p:sp>
      <p:sp>
        <p:nvSpPr>
          <p:cNvPr id="19" name="text-650"/>
          <p:cNvSpPr txBox="1"/>
          <p:nvPr/>
        </p:nvSpPr>
        <p:spPr>
          <a:xfrm>
            <a:off x="3593592" y="4526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Evolution .circ file</a:t>
            </a:r>
            <a:endParaRPr lang="en-US" sz="1300" dirty="0"/>
          </a:p>
        </p:txBody>
      </p:sp>
      <p:sp>
        <p:nvSpPr>
          <p:cNvPr id="20" name="box-651"/>
          <p:cNvSpPr/>
          <p:nvPr/>
        </p:nvSpPr>
        <p:spPr>
          <a:xfrm>
            <a:off x="6181344" y="3429000"/>
            <a:ext cx="2633472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1" name="icon circle-652"/>
          <p:cNvSpPr/>
          <p:nvPr/>
        </p:nvSpPr>
        <p:spPr>
          <a:xfrm>
            <a:off x="6409944" y="3611880"/>
            <a:ext cx="502920" cy="50292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22" name="icon-65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0645" y="3732581"/>
            <a:ext cx="261518" cy="261518"/>
          </a:xfrm>
          <a:prstGeom prst="rect">
            <a:avLst/>
          </a:prstGeom>
        </p:spPr>
      </p:pic>
      <p:sp>
        <p:nvSpPr>
          <p:cNvPr id="23" name="text-654"/>
          <p:cNvSpPr txBox="1"/>
          <p:nvPr/>
        </p:nvSpPr>
        <p:spPr>
          <a:xfrm>
            <a:off x="6409944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00" dirty="0"/>
          </a:p>
        </p:txBody>
      </p:sp>
      <p:sp>
        <p:nvSpPr>
          <p:cNvPr id="24" name="text-655"/>
          <p:cNvSpPr txBox="1"/>
          <p:nvPr/>
        </p:nvSpPr>
        <p:spPr>
          <a:xfrm>
            <a:off x="6409944" y="4526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report</a:t>
            </a:r>
            <a:endParaRPr lang="en-US" sz="1300" dirty="0"/>
          </a:p>
        </p:txBody>
      </p:sp>
      <p:sp>
        <p:nvSpPr>
          <p:cNvPr id="25" name="box-656"/>
          <p:cNvSpPr/>
          <p:nvPr/>
        </p:nvSpPr>
        <p:spPr>
          <a:xfrm>
            <a:off x="8997696" y="3429000"/>
            <a:ext cx="2633472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6" name="icon circle-657"/>
          <p:cNvSpPr/>
          <p:nvPr/>
        </p:nvSpPr>
        <p:spPr>
          <a:xfrm>
            <a:off x="9226296" y="36118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7" name="icon-65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6997" y="3732581"/>
            <a:ext cx="261518" cy="261518"/>
          </a:xfrm>
          <a:prstGeom prst="rect">
            <a:avLst/>
          </a:prstGeom>
        </p:spPr>
      </p:pic>
      <p:sp>
        <p:nvSpPr>
          <p:cNvPr id="28" name="text-659"/>
          <p:cNvSpPr txBox="1"/>
          <p:nvPr/>
        </p:nvSpPr>
        <p:spPr>
          <a:xfrm>
            <a:off x="9226296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and poster</a:t>
            </a:r>
            <a:endParaRPr lang="en-US" sz="1500" dirty="0"/>
          </a:p>
        </p:txBody>
      </p:sp>
      <p:sp>
        <p:nvSpPr>
          <p:cNvPr id="29" name="text-660"/>
          <p:cNvSpPr txBox="1"/>
          <p:nvPr/>
        </p:nvSpPr>
        <p:spPr>
          <a:xfrm>
            <a:off x="9226296" y="4526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 and project poster</a:t>
            </a:r>
            <a:endParaRPr lang="en-US" sz="1300" dirty="0"/>
          </a:p>
        </p:txBody>
      </p:sp>
      <p:sp>
        <p:nvSpPr>
          <p:cNvPr id="30" name="box-661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EF8F2"/>
          </a:solidFill>
          <a:ln/>
        </p:spPr>
      </p:sp>
      <p:sp>
        <p:nvSpPr>
          <p:cNvPr id="31" name="text-662"/>
          <p:cNvSpPr txBox="1"/>
          <p:nvPr/>
        </p:nvSpPr>
        <p:spPr>
          <a:xfrm>
            <a:off x="777240" y="52578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README: 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description, components, working and setup steps. All team members' contributions are documented.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63"/>
          <p:cNvSpPr txBox="1"/>
          <p:nvPr/>
        </p:nvSpPr>
        <p:spPr>
          <a:xfrm>
            <a:off x="548640" y="20116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kern="0" spc="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3" name="text-664"/>
          <p:cNvSpPr txBox="1"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400" dirty="0"/>
          </a:p>
        </p:txBody>
      </p:sp>
      <p:sp>
        <p:nvSpPr>
          <p:cNvPr id="4" name="wire-665"/>
          <p:cNvSpPr/>
          <p:nvPr/>
        </p:nvSpPr>
        <p:spPr>
          <a:xfrm>
            <a:off x="4206240" y="4526280"/>
            <a:ext cx="5486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wire-666"/>
          <p:cNvSpPr/>
          <p:nvPr/>
        </p:nvSpPr>
        <p:spPr>
          <a:xfrm>
            <a:off x="4206240" y="4846320"/>
            <a:ext cx="5486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XOR input arc-667"/>
          <p:cNvSpPr/>
          <p:nvPr/>
        </p:nvSpPr>
        <p:spPr>
          <a:xfrm>
            <a:off x="4564685" y="4343400"/>
            <a:ext cx="822960" cy="685800"/>
          </a:xfrm>
          <a:custGeom>
            <a:avLst/>
            <a:gdLst/>
            <a:ahLst/>
            <a:cxnLst/>
            <a:rect l="l" t="t" r="r" b="b"/>
            <a:pathLst>
              <a:path w="822960" h="685800">
                <a:moveTo>
                  <a:pt x="0" y="0"/>
                </a:moveTo>
                <a:quadBezTo>
                  <a:pt x="246888" y="342900"/>
                  <a:pt x="0" y="685800"/>
                </a:quadBezTo>
              </a:path>
            </a:pathLst>
          </a:cu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7" name="XOR gate-668"/>
          <p:cNvSpPr/>
          <p:nvPr/>
        </p:nvSpPr>
        <p:spPr>
          <a:xfrm>
            <a:off x="4663440" y="4343400"/>
            <a:ext cx="822960" cy="685800"/>
          </a:xfrm>
          <a:custGeom>
            <a:avLst/>
            <a:gdLst/>
            <a:ahLst/>
            <a:cxnLst/>
            <a:rect l="l" t="t" r="r" b="b"/>
            <a:pathLst>
              <a:path w="822960" h="685800">
                <a:moveTo>
                  <a:pt x="0" y="0"/>
                </a:moveTo>
                <a:cubicBezTo>
                  <a:pt x="452628" y="0"/>
                  <a:pt x="724205" y="123444"/>
                  <a:pt x="822960" y="342900"/>
                </a:cubicBezTo>
                <a:cubicBezTo>
                  <a:pt x="724205" y="562356"/>
                  <a:pt x="452628" y="685800"/>
                  <a:pt x="0" y="685800"/>
                </a:cubicBezTo>
                <a:quadBezTo>
                  <a:pt x="246888" y="342900"/>
                  <a:pt x="0" y="0"/>
                </a:quadBez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8" name="wire-669"/>
          <p:cNvSpPr/>
          <p:nvPr/>
        </p:nvSpPr>
        <p:spPr>
          <a:xfrm>
            <a:off x="5486400" y="4686300"/>
            <a:ext cx="6858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9" name="NOR gate-670"/>
          <p:cNvSpPr/>
          <p:nvPr/>
        </p:nvSpPr>
        <p:spPr>
          <a:xfrm>
            <a:off x="6080760" y="4343400"/>
            <a:ext cx="822960" cy="685800"/>
          </a:xfrm>
          <a:custGeom>
            <a:avLst/>
            <a:gdLst/>
            <a:ahLst/>
            <a:cxnLst/>
            <a:rect l="l" t="t" r="r" b="b"/>
            <a:pathLst>
              <a:path w="822960" h="685800">
                <a:moveTo>
                  <a:pt x="0" y="0"/>
                </a:moveTo>
                <a:cubicBezTo>
                  <a:pt x="452628" y="0"/>
                  <a:pt x="724205" y="123444"/>
                  <a:pt x="822960" y="342900"/>
                </a:cubicBezTo>
                <a:cubicBezTo>
                  <a:pt x="724205" y="562356"/>
                  <a:pt x="452628" y="685800"/>
                  <a:pt x="0" y="685800"/>
                </a:cubicBezTo>
                <a:quadBezTo>
                  <a:pt x="246888" y="342900"/>
                  <a:pt x="0" y="0"/>
                </a:quadBez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0" name="inversion bubble-671"/>
          <p:cNvSpPr/>
          <p:nvPr/>
        </p:nvSpPr>
        <p:spPr>
          <a:xfrm>
            <a:off x="6903720" y="4617720"/>
            <a:ext cx="137160" cy="1371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1" name="wire-672"/>
          <p:cNvSpPr/>
          <p:nvPr/>
        </p:nvSpPr>
        <p:spPr>
          <a:xfrm>
            <a:off x="7040880" y="468630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icon circle-673"/>
          <p:cNvSpPr/>
          <p:nvPr/>
        </p:nvSpPr>
        <p:spPr>
          <a:xfrm>
            <a:off x="7452360" y="4361688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13" name="icon-67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979" y="4515307"/>
            <a:ext cx="332842" cy="332842"/>
          </a:xfrm>
          <a:prstGeom prst="rect">
            <a:avLst/>
          </a:prstGeom>
        </p:spPr>
      </p:pic>
      <p:sp>
        <p:nvSpPr>
          <p:cNvPr id="14" name="text-67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Pranathi Kusi  ·  K. Rishika  ·  Y. Naga Amrutha  ·  P. Renu Sree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DCA Access Logic">
  <a:themeElements>
    <a:clrScheme name="DDCA Access Logic">
      <a:dk1>
        <a:srgbClr val="0B1D3A"/>
      </a:dk1>
      <a:lt1>
        <a:srgbClr val="FFFFFF"/>
      </a:lt1>
      <a:dk2>
        <a:srgbClr val="163A6B"/>
      </a:dk2>
      <a:lt2>
        <a:srgbClr val="EAF2FB"/>
      </a:lt2>
      <a:accent1>
        <a:srgbClr val="0FA3A3"/>
      </a:accent1>
      <a:accent2>
        <a:srgbClr val="1E90FF"/>
      </a:accent2>
      <a:accent3>
        <a:srgbClr val="00C2FF"/>
      </a:accent3>
      <a:accent4>
        <a:srgbClr val="1E9E5A"/>
      </a:accent4>
      <a:accent5>
        <a:srgbClr val="D64545"/>
      </a:accent5>
      <a:accent6>
        <a:srgbClr val="F2A900"/>
      </a:accent6>
      <a:hlink>
        <a:srgbClr val="1E90FF"/>
      </a:hlink>
      <a:folHlink>
        <a:srgbClr val="0FA3A3"/>
      </a:folHlink>
    </a:clrScheme>
    <a:fontScheme name="DDCA Access Logi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2371</Words>
  <Application>Microsoft Office PowerPoint</Application>
  <PresentationFormat>Widescreen</PresentationFormat>
  <Paragraphs>558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DDCA Access Logic</vt:lpstr>
      <vt:lpstr>PowerPoint Presentation</vt:lpstr>
      <vt:lpstr>What Is Digital Access Card Verification?</vt:lpstr>
      <vt:lpstr>Abstract, Problem Statement and Objectives</vt:lpstr>
      <vt:lpstr>Course Outcomes (COs)</vt:lpstr>
      <vt:lpstr>Components Required and Scope</vt:lpstr>
      <vt:lpstr>System Block Diagram</vt:lpstr>
      <vt:lpstr>XOR Gate Operation: Bitwise Comparison</vt:lpstr>
      <vt:lpstr>NOR Logic: Detecting a Complete Match</vt:lpstr>
      <vt:lpstr>Boolean Expression and Logic Simplification</vt:lpstr>
      <vt:lpstr>Truth Table and Test Cases</vt:lpstr>
      <vt:lpstr>Logisim Circuit Diagram</vt:lpstr>
      <vt:lpstr>Simulation Procedure and Results</vt:lpstr>
      <vt:lpstr>Advantages</vt:lpstr>
      <vt:lpstr>Limitations</vt:lpstr>
      <vt:lpstr>Applications and Future Scope</vt:lpstr>
      <vt:lpstr>Conclusion</vt:lpstr>
      <vt:lpstr>GitHub Repository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Digital Access Card Verification Using XOR/NOR Logic</dc:title>
  <dc:subject>DDCA - Digital Design and Computer Architecture</dc:subject>
  <dc:creator>Pranathi Kusi, K. Rishika, Y. Naga Amrutha, P. Renu Sree</dc:creator>
  <cp:lastModifiedBy>Pranathi Kusi</cp:lastModifiedBy>
  <cp:revision>3</cp:revision>
  <dcterms:created xsi:type="dcterms:W3CDTF">2026-10-14T15:12:31Z</dcterms:created>
  <dcterms:modified xsi:type="dcterms:W3CDTF">2026-10-14T15:39:39Z</dcterms:modified>
</cp:coreProperties>
</file>